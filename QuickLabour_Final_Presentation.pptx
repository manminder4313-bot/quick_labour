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50" r:id="rId1"/>
  </p:sldMasterIdLst>
  <p:notesMasterIdLst>
    <p:notesMasterId r:id="rId28"/>
  </p:notesMasterIdLst>
  <p:sldIdLst>
    <p:sldId id="281" r:id="rId2"/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</p:sldIdLst>
  <p:sldSz cx="9144000" cy="5143500" type="screen16x9"/>
  <p:notesSz cx="51435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398298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66216" y="1085850"/>
            <a:ext cx="6619244" cy="2497186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6216" y="3583035"/>
            <a:ext cx="6619244" cy="646065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dirty="0"/>
              <a:t>5/25/2026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03422957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5/25/2026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84851898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217" y="2146300"/>
            <a:ext cx="6619243" cy="1436735"/>
          </a:xfrm>
        </p:spPr>
        <p:txBody>
          <a:bodyPr anchor="b"/>
          <a:lstStyle>
            <a:lvl1pPr algn="l">
              <a:defRPr sz="3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216" y="3583036"/>
            <a:ext cx="6619244" cy="645300"/>
          </a:xfrm>
        </p:spPr>
        <p:txBody>
          <a:bodyPr anchor="t"/>
          <a:lstStyle>
            <a:lvl1pPr marL="0" indent="0" algn="l">
              <a:buNone/>
              <a:defRPr sz="15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dirty="0"/>
              <a:t>5/25/2026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54147051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27485" y="1545432"/>
            <a:ext cx="3297254" cy="3146822"/>
          </a:xfrm>
        </p:spPr>
        <p:txBody>
          <a:bodyPr>
            <a:normAutofit/>
          </a:bodyPr>
          <a:lstStyle>
            <a:lvl1pPr>
              <a:defRPr sz="1350"/>
            </a:lvl1pPr>
            <a:lvl2pPr>
              <a:defRPr sz="1200"/>
            </a:lvl2pPr>
            <a:lvl3pPr>
              <a:defRPr sz="1050"/>
            </a:lvl3pPr>
            <a:lvl4pPr>
              <a:defRPr sz="900"/>
            </a:lvl4pPr>
            <a:lvl5pPr>
              <a:defRPr sz="900"/>
            </a:lvl5pPr>
            <a:lvl6pPr>
              <a:defRPr sz="900"/>
            </a:lvl6pPr>
            <a:lvl7pPr>
              <a:defRPr sz="900"/>
            </a:lvl7pPr>
            <a:lvl8pPr>
              <a:defRPr sz="900"/>
            </a:lvl8pPr>
            <a:lvl9pPr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240870" y="1542069"/>
            <a:ext cx="3297256" cy="3150184"/>
          </a:xfrm>
        </p:spPr>
        <p:txBody>
          <a:bodyPr>
            <a:normAutofit/>
          </a:bodyPr>
          <a:lstStyle>
            <a:lvl1pPr>
              <a:defRPr sz="1350"/>
            </a:lvl1pPr>
            <a:lvl2pPr>
              <a:defRPr sz="1200"/>
            </a:lvl2pPr>
            <a:lvl3pPr>
              <a:defRPr sz="1050"/>
            </a:lvl3pPr>
            <a:lvl4pPr>
              <a:defRPr sz="900"/>
            </a:lvl4pPr>
            <a:lvl5pPr>
              <a:defRPr sz="900"/>
            </a:lvl5pPr>
            <a:lvl6pPr>
              <a:defRPr sz="900"/>
            </a:lvl6pPr>
            <a:lvl7pPr>
              <a:defRPr sz="900"/>
            </a:lvl7pPr>
            <a:lvl8pPr>
              <a:defRPr sz="900"/>
            </a:lvl8pPr>
            <a:lvl9pPr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dirty="0"/>
              <a:t>5/25/2026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64206471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7485" y="1428750"/>
            <a:ext cx="3297254" cy="432197"/>
          </a:xfrm>
        </p:spPr>
        <p:txBody>
          <a:bodyPr anchor="b">
            <a:noAutofit/>
          </a:bodyPr>
          <a:lstStyle>
            <a:lvl1pPr marL="0" indent="0">
              <a:buNone/>
              <a:defRPr sz="18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27485" y="1885950"/>
            <a:ext cx="3297254" cy="2806304"/>
          </a:xfrm>
        </p:spPr>
        <p:txBody>
          <a:bodyPr>
            <a:normAutofit/>
          </a:bodyPr>
          <a:lstStyle>
            <a:lvl1pPr>
              <a:defRPr sz="1350"/>
            </a:lvl1pPr>
            <a:lvl2pPr>
              <a:defRPr sz="1200"/>
            </a:lvl2pPr>
            <a:lvl3pPr>
              <a:defRPr sz="1050"/>
            </a:lvl3pPr>
            <a:lvl4pPr>
              <a:defRPr sz="900"/>
            </a:lvl4pPr>
            <a:lvl5pPr>
              <a:defRPr sz="900"/>
            </a:lvl5pPr>
            <a:lvl6pPr>
              <a:defRPr sz="900"/>
            </a:lvl6pPr>
            <a:lvl7pPr>
              <a:defRPr sz="900"/>
            </a:lvl7pPr>
            <a:lvl8pPr>
              <a:defRPr sz="900"/>
            </a:lvl8pPr>
            <a:lvl9pPr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240872" y="1428750"/>
            <a:ext cx="3297254" cy="432197"/>
          </a:xfrm>
        </p:spPr>
        <p:txBody>
          <a:bodyPr anchor="b">
            <a:noAutofit/>
          </a:bodyPr>
          <a:lstStyle>
            <a:lvl1pPr marL="0" indent="0">
              <a:buNone/>
              <a:defRPr sz="18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240872" y="1885950"/>
            <a:ext cx="3297254" cy="2806304"/>
          </a:xfrm>
        </p:spPr>
        <p:txBody>
          <a:bodyPr>
            <a:normAutofit/>
          </a:bodyPr>
          <a:lstStyle>
            <a:lvl1pPr>
              <a:defRPr sz="1350"/>
            </a:lvl1pPr>
            <a:lvl2pPr>
              <a:defRPr sz="1200"/>
            </a:lvl2pPr>
            <a:lvl3pPr>
              <a:defRPr sz="1050"/>
            </a:lvl3pPr>
            <a:lvl4pPr>
              <a:defRPr sz="900"/>
            </a:lvl4pPr>
            <a:lvl5pPr>
              <a:defRPr sz="900"/>
            </a:lvl5pPr>
            <a:lvl6pPr>
              <a:defRPr sz="900"/>
            </a:lvl6pPr>
            <a:lvl7pPr>
              <a:defRPr sz="900"/>
            </a:lvl7pPr>
            <a:lvl8pPr>
              <a:defRPr sz="900"/>
            </a:lvl8pPr>
            <a:lvl9pPr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dirty="0"/>
              <a:t>5/25/2026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2610465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5/25/2026</a:t>
            </a:fld>
            <a:endParaRPr lang="en-US" dirty="0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269531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5/25/2026</a:t>
            </a:fld>
            <a:endParaRPr lang="en-US" dirty="0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0914986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215" y="1085850"/>
            <a:ext cx="2550798" cy="1085850"/>
          </a:xfrm>
        </p:spPr>
        <p:txBody>
          <a:bodyPr anchor="b"/>
          <a:lstStyle>
            <a:lvl1pPr algn="l">
              <a:defRPr sz="1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88462" y="1085850"/>
            <a:ext cx="3896998" cy="3429000"/>
          </a:xfrm>
        </p:spPr>
        <p:txBody>
          <a:bodyPr anchor="ctr">
            <a:normAutofit/>
          </a:bodyPr>
          <a:lstStyle>
            <a:lvl1pPr>
              <a:defRPr sz="1500"/>
            </a:lvl1pPr>
            <a:lvl2pPr>
              <a:defRPr sz="1350"/>
            </a:lvl2pPr>
            <a:lvl3pPr>
              <a:defRPr sz="1200"/>
            </a:lvl3pPr>
            <a:lvl4pPr>
              <a:defRPr sz="1050"/>
            </a:lvl4pPr>
            <a:lvl5pPr>
              <a:defRPr sz="1050"/>
            </a:lvl5pPr>
            <a:lvl6pPr>
              <a:defRPr sz="1050"/>
            </a:lvl6pPr>
            <a:lvl7pPr>
              <a:defRPr sz="1050"/>
            </a:lvl7pPr>
            <a:lvl8pPr>
              <a:defRPr sz="1050"/>
            </a:lvl8pPr>
            <a:lvl9pPr>
              <a:defRPr sz="10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215" y="2346961"/>
            <a:ext cx="2550797" cy="2171699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5/25/2026</a:t>
            </a:fld>
            <a:endParaRPr lang="en-US" dirty="0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77450121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5430" y="1390644"/>
            <a:ext cx="3819680" cy="1181106"/>
          </a:xfrm>
        </p:spPr>
        <p:txBody>
          <a:bodyPr anchor="b">
            <a:normAutofit/>
          </a:bodyPr>
          <a:lstStyle>
            <a:lvl1pPr algn="l">
              <a:defRPr sz="27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212160" y="857250"/>
            <a:ext cx="2400300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216" y="2743200"/>
            <a:ext cx="3813734" cy="1028700"/>
          </a:xfrm>
        </p:spPr>
        <p:txBody>
          <a:bodyPr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5/25/2026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70160748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217" y="3600440"/>
            <a:ext cx="6619243" cy="425054"/>
          </a:xfrm>
        </p:spPr>
        <p:txBody>
          <a:bodyPr anchor="b">
            <a:normAutofit/>
          </a:bodyPr>
          <a:lstStyle>
            <a:lvl1pPr algn="l">
              <a:defRPr sz="1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66216" y="514350"/>
            <a:ext cx="6619244" cy="27305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217" y="4025494"/>
            <a:ext cx="6619242" cy="370284"/>
          </a:xfrm>
        </p:spPr>
        <p:txBody>
          <a:bodyPr>
            <a:normAutofit/>
          </a:bodyPr>
          <a:lstStyle>
            <a:lvl1pPr marL="0" indent="0">
              <a:buNone/>
              <a:defRPr sz="90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5/25/2026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79284020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216" y="1085850"/>
            <a:ext cx="6619244" cy="1485900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216" y="2743200"/>
            <a:ext cx="6619244" cy="1771650"/>
          </a:xfrm>
        </p:spPr>
        <p:txBody>
          <a:bodyPr anchor="ctr">
            <a:normAutofit/>
          </a:bodyPr>
          <a:lstStyle>
            <a:lvl1pPr marL="0" indent="0">
              <a:buNone/>
              <a:defRPr sz="13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5/25/2026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44906746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81101" y="1085850"/>
            <a:ext cx="5999486" cy="1742531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447800" y="2828380"/>
            <a:ext cx="5459737" cy="256631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05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216" y="3262993"/>
            <a:ext cx="6619244" cy="1257300"/>
          </a:xfrm>
        </p:spPr>
        <p:txBody>
          <a:bodyPr anchor="ctr">
            <a:normAutofit/>
          </a:bodyPr>
          <a:lstStyle>
            <a:lvl1pPr marL="0" indent="0">
              <a:buNone/>
              <a:defRPr sz="13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5/25/2026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673721" y="728440"/>
            <a:ext cx="601434" cy="15004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sz="9150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97868" y="1960341"/>
            <a:ext cx="601434" cy="15004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sz="9150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951715597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216" y="2343151"/>
            <a:ext cx="6619245" cy="1239885"/>
          </a:xfrm>
        </p:spPr>
        <p:txBody>
          <a:bodyPr anchor="b"/>
          <a:lstStyle>
            <a:lvl1pPr algn="l">
              <a:defRPr sz="3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216" y="3583036"/>
            <a:ext cx="6619244" cy="645300"/>
          </a:xfrm>
        </p:spPr>
        <p:txBody>
          <a:bodyPr anchor="t"/>
          <a:lstStyle>
            <a:lvl1pPr marL="0" indent="0" algn="l">
              <a:buNone/>
              <a:defRPr sz="15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5/25/2026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25558394"/>
      </p:ext>
    </p:ext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15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4710" y="1485900"/>
            <a:ext cx="2210150" cy="432197"/>
          </a:xfrm>
        </p:spPr>
        <p:txBody>
          <a:bodyPr anchor="b">
            <a:noAutofit/>
          </a:bodyPr>
          <a:lstStyle>
            <a:lvl1pPr marL="0" indent="0">
              <a:buNone/>
              <a:defRPr sz="18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489347" y="2000250"/>
            <a:ext cx="2195513" cy="2692004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912745" y="1485900"/>
            <a:ext cx="2202181" cy="432197"/>
          </a:xfrm>
        </p:spPr>
        <p:txBody>
          <a:bodyPr anchor="b">
            <a:noAutofit/>
          </a:bodyPr>
          <a:lstStyle>
            <a:lvl1pPr marL="0" indent="0">
              <a:buNone/>
              <a:defRPr sz="18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2904829" y="2000250"/>
            <a:ext cx="2210096" cy="2692004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343525" y="1485900"/>
            <a:ext cx="2199085" cy="432197"/>
          </a:xfrm>
        </p:spPr>
        <p:txBody>
          <a:bodyPr anchor="b">
            <a:noAutofit/>
          </a:bodyPr>
          <a:lstStyle>
            <a:lvl1pPr marL="0" indent="0">
              <a:buNone/>
              <a:defRPr sz="18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5343525" y="2000250"/>
            <a:ext cx="2199085" cy="2692004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2794607" y="1600200"/>
            <a:ext cx="0" cy="29718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5221670" y="1600200"/>
            <a:ext cx="0" cy="297516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5/25/2026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29261424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15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89347" y="3188212"/>
            <a:ext cx="2205038" cy="432197"/>
          </a:xfrm>
        </p:spPr>
        <p:txBody>
          <a:bodyPr anchor="b">
            <a:noAutofit/>
          </a:bodyPr>
          <a:lstStyle>
            <a:lvl1pPr marL="0" indent="0">
              <a:buNone/>
              <a:defRPr sz="18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489347" y="1657350"/>
            <a:ext cx="2205038" cy="1143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489347" y="3620409"/>
            <a:ext cx="2205038" cy="494392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917032" y="3188212"/>
            <a:ext cx="2197894" cy="432197"/>
          </a:xfrm>
        </p:spPr>
        <p:txBody>
          <a:bodyPr anchor="b">
            <a:noAutofit/>
          </a:bodyPr>
          <a:lstStyle>
            <a:lvl1pPr marL="0" indent="0">
              <a:buNone/>
              <a:defRPr sz="18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2917031" y="1657350"/>
            <a:ext cx="2197894" cy="1143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2916016" y="3620408"/>
            <a:ext cx="2200805" cy="494392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343525" y="3188212"/>
            <a:ext cx="2199085" cy="432197"/>
          </a:xfrm>
        </p:spPr>
        <p:txBody>
          <a:bodyPr anchor="b">
            <a:noAutofit/>
          </a:bodyPr>
          <a:lstStyle>
            <a:lvl1pPr marL="0" indent="0">
              <a:buNone/>
              <a:defRPr sz="18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5343525" y="1657350"/>
            <a:ext cx="2199085" cy="1143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5343432" y="3620406"/>
            <a:ext cx="2201998" cy="494392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2794607" y="1600200"/>
            <a:ext cx="0" cy="29718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5221670" y="1600200"/>
            <a:ext cx="0" cy="297516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5/25/2026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08037166"/>
      </p:ext>
    </p:ext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5/25/2026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1232257"/>
      </p:ext>
    </p:extLst>
  </p:cSld>
  <p:clrMapOvr>
    <a:masterClrMapping/>
  </p:clrMapOvr>
  <p:hf sldNum="0"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228159" y="322660"/>
            <a:ext cx="1314451" cy="4369594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89348" y="665561"/>
            <a:ext cx="5567362" cy="402669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5/25/2026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02194619"/>
      </p:ext>
    </p:extLst>
  </p:cSld>
  <p:clrMapOvr>
    <a:masterClrMapping/>
  </p:clrMapOvr>
  <p:hf sldNum="0" hdr="0" ft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026786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3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image" Target="../media/image5.png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4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002264"/>
            <a:ext cx="3027759" cy="3141236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169261"/>
            <a:ext cx="1141809" cy="1774090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6456759" y="1257300"/>
            <a:ext cx="2114550" cy="211455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5999560" y="1"/>
            <a:ext cx="1202540" cy="856055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6454408" y="4572000"/>
            <a:ext cx="745301" cy="5715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7828359" y="0"/>
            <a:ext cx="514350" cy="8572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84584" y="339538"/>
            <a:ext cx="7053542" cy="1050398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7484" y="1539689"/>
            <a:ext cx="6709906" cy="314661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7616730" y="1343026"/>
            <a:ext cx="742949" cy="2285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825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4AAD347D-5ACD-4C99-B74B-A9C85AD731AF}" type="datetimeFigureOut">
              <a:rPr lang="en-US" dirty="0"/>
              <a:t>5/25/2026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6713680" y="2418973"/>
            <a:ext cx="2894846" cy="2286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825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7764406" y="221797"/>
            <a:ext cx="628649" cy="57576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1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0215265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51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0" r:id="rId10"/>
    <p:sldLayoutId id="2147483661" r:id="rId11"/>
    <p:sldLayoutId id="2147483662" r:id="rId12"/>
    <p:sldLayoutId id="2147483663" r:id="rId13"/>
    <p:sldLayoutId id="2147483664" r:id="rId14"/>
    <p:sldLayoutId id="2147483665" r:id="rId15"/>
    <p:sldLayoutId id="2147483666" r:id="rId16"/>
    <p:sldLayoutId id="2147483667" r:id="rId17"/>
    <p:sldLayoutId id="2147483668" r:id="rId18"/>
  </p:sldLayoutIdLst>
  <p:hf sldNum="0" hdr="0" ftr="0" dt="0"/>
  <p:txStyles>
    <p:titleStyle>
      <a:lvl1pPr algn="l" defTabSz="342900" rtl="0" eaLnBrk="1" latinLnBrk="0" hangingPunct="1">
        <a:spcBef>
          <a:spcPct val="0"/>
        </a:spcBef>
        <a:buNone/>
        <a:defRPr sz="315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57175" indent="-257175" algn="l" defTabSz="342900" rtl="0" eaLnBrk="1" latinLnBrk="0" hangingPunct="1">
        <a:spcBef>
          <a:spcPts val="75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5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557213" indent="-214313" algn="l" defTabSz="342900" rtl="0" eaLnBrk="1" latinLnBrk="0" hangingPunct="1">
        <a:spcBef>
          <a:spcPts val="75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35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8572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2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2001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05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15430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05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187950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05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2288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05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25717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05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29146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05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8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8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8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8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8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8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8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8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8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8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8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8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8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8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8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8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8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8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8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8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8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AA05DF4-C33F-6AD3-110A-112B2D88B944}"/>
              </a:ext>
            </a:extLst>
          </p:cNvPr>
          <p:cNvSpPr txBox="1"/>
          <p:nvPr/>
        </p:nvSpPr>
        <p:spPr>
          <a:xfrm>
            <a:off x="1" y="54226"/>
            <a:ext cx="9144000" cy="48782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b="1" dirty="0">
                <a:solidFill>
                  <a:srgbClr val="FF0000"/>
                </a:solidFill>
              </a:rPr>
              <a:t>On Project Report </a:t>
            </a:r>
            <a:br>
              <a:rPr lang="en-US" sz="1100" dirty="0">
                <a:solidFill>
                  <a:srgbClr val="FF0000"/>
                </a:solidFill>
              </a:rPr>
            </a:br>
            <a:br>
              <a:rPr lang="en-US" sz="1100" dirty="0">
                <a:solidFill>
                  <a:srgbClr val="FF0000"/>
                </a:solidFill>
              </a:rPr>
            </a:br>
            <a:r>
              <a:rPr lang="en-US" sz="1400" b="1" dirty="0"/>
              <a:t>“ Project Title .”</a:t>
            </a:r>
            <a:br>
              <a:rPr lang="en-US" sz="1400" b="1" dirty="0"/>
            </a:br>
            <a:r>
              <a:rPr lang="en-US" sz="1400" b="1" dirty="0"/>
              <a:t>SUBMITTED IN PARTIAL FULFILLMENT OF THE REQUIREMENT FOR THE AWARD OF THE DEGREE OF</a:t>
            </a:r>
            <a:br>
              <a:rPr lang="en-US" sz="1400" b="1" dirty="0"/>
            </a:br>
            <a:br>
              <a:rPr lang="en-US" sz="1400" b="1" dirty="0"/>
            </a:br>
            <a:r>
              <a:rPr lang="en-US" sz="1400" b="1" dirty="0"/>
              <a:t>BACHELOR OF COMPUTER APPLICATION</a:t>
            </a:r>
            <a:br>
              <a:rPr lang="en-US" sz="1100" dirty="0"/>
            </a:br>
            <a:br>
              <a:rPr lang="en-US" sz="1100" dirty="0"/>
            </a:br>
            <a:br>
              <a:rPr lang="en-US" sz="1100" dirty="0"/>
            </a:br>
            <a:r>
              <a:rPr lang="en-US" sz="1100" b="1" i="1" dirty="0"/>
              <a:t>SUBMITTED BY</a:t>
            </a:r>
            <a:br>
              <a:rPr lang="en-US" sz="1100" b="1" i="1" dirty="0"/>
            </a:br>
            <a:br>
              <a:rPr lang="en-US" sz="1100" b="1" i="1" dirty="0"/>
            </a:br>
            <a:r>
              <a:rPr lang="en-US" sz="1100" b="1" i="1" dirty="0"/>
              <a:t>STUDENT NAME (ROLL NUMBER)</a:t>
            </a:r>
            <a:br>
              <a:rPr lang="en-US" sz="1100" b="1" i="1" dirty="0"/>
            </a:br>
            <a:br>
              <a:rPr lang="en-US" sz="1100" b="1" i="1" dirty="0"/>
            </a:br>
            <a:r>
              <a:rPr lang="en-US" sz="1100" b="1" i="1" dirty="0"/>
              <a:t>UNDER THE SUPERVISION OF</a:t>
            </a:r>
            <a:br>
              <a:rPr lang="en-US" sz="1100" b="1" i="1" dirty="0"/>
            </a:br>
            <a:br>
              <a:rPr lang="en-US" sz="1100" b="1" i="1" dirty="0"/>
            </a:br>
            <a:r>
              <a:rPr lang="en-US" sz="1100" b="1" i="1" dirty="0"/>
              <a:t>DR. NITIN KUMAR</a:t>
            </a:r>
            <a:br>
              <a:rPr lang="en-US" sz="1100" b="1" i="1" dirty="0"/>
            </a:br>
            <a:r>
              <a:rPr lang="en-US" sz="1100" b="1" i="1" dirty="0"/>
              <a:t>(ASSITANT PROFESSOR, CSE)</a:t>
            </a:r>
            <a:br>
              <a:rPr lang="en-US" sz="1100" dirty="0"/>
            </a:br>
            <a:br>
              <a:rPr lang="en-US" sz="1100" dirty="0"/>
            </a:br>
            <a:r>
              <a:rPr lang="en-US" sz="1100" dirty="0"/>
              <a:t> </a:t>
            </a:r>
            <a:br>
              <a:rPr lang="en-US" sz="1100" dirty="0"/>
            </a:br>
            <a:br>
              <a:rPr lang="en-US" sz="1100" dirty="0"/>
            </a:br>
            <a:r>
              <a:rPr lang="en-US" sz="1600" b="1" dirty="0"/>
              <a:t>DEPARTMENT OF COMPUTER SCIENCE AND ENGINEERING</a:t>
            </a:r>
            <a:br>
              <a:rPr lang="en-US" sz="1600" b="1" dirty="0"/>
            </a:br>
            <a:br>
              <a:rPr lang="en-US" sz="1600" b="1" dirty="0"/>
            </a:br>
            <a:r>
              <a:rPr lang="en-US" sz="1600" b="1" dirty="0"/>
              <a:t>SHOBHIT UNIVERSITY, GANGOH</a:t>
            </a:r>
            <a:br>
              <a:rPr lang="en-US" sz="1100" dirty="0"/>
            </a:br>
            <a:br>
              <a:rPr lang="en-US" sz="1100" dirty="0"/>
            </a:br>
            <a:br>
              <a:rPr lang="en-US" sz="1100" dirty="0"/>
            </a:br>
            <a:r>
              <a:rPr lang="en-US" sz="1400" b="1" i="1" dirty="0"/>
              <a:t>APRIL 2026</a:t>
            </a:r>
            <a:endParaRPr lang="en-IN" sz="1400" b="1" i="1" dirty="0"/>
          </a:p>
        </p:txBody>
      </p:sp>
    </p:spTree>
    <p:extLst>
      <p:ext uri="{BB962C8B-B14F-4D97-AF65-F5344CB8AC3E}">
        <p14:creationId xmlns:p14="http://schemas.microsoft.com/office/powerpoint/2010/main" val="38418588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F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822960"/>
            <a:ext cx="7772400" cy="1371600"/>
          </a:xfrm>
          <a:prstGeom prst="rect">
            <a:avLst/>
          </a:prstGeom>
          <a:noFill/>
          <a:ln/>
          <a:effectLst>
            <a:outerShdw blurRad="203200" dist="50800" dir="8100000" algn="bl" rotWithShape="0">
              <a:srgbClr val="000000">
                <a:alpha val="45000"/>
              </a:srgbClr>
            </a:outerShdw>
          </a:effectLst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5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QuickLabour</a:t>
            </a:r>
            <a:endParaRPr lang="en-US" sz="5800" dirty="0"/>
          </a:p>
        </p:txBody>
      </p:sp>
      <p:sp>
        <p:nvSpPr>
          <p:cNvPr id="5" name="Text 3"/>
          <p:cNvSpPr/>
          <p:nvPr/>
        </p:nvSpPr>
        <p:spPr>
          <a:xfrm>
            <a:off x="502920" y="2148840"/>
            <a:ext cx="7772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i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On-Demand Labour Hiring Platform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02920" y="2834640"/>
            <a:ext cx="6858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AECD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India's #1 Labour Hiring App — Connect with verified plumbers,</a:t>
            </a:r>
            <a:endParaRPr lang="en-US" sz="1400" dirty="0"/>
          </a:p>
          <a:p>
            <a:pPr marL="0" indent="0" algn="l">
              <a:buNone/>
            </a:pPr>
            <a:r>
              <a:rPr lang="en-US" sz="1400" dirty="0">
                <a:solidFill>
                  <a:srgbClr val="AECD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electricians, painters, carpenters and 50+ more trades.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0" y="4389120"/>
            <a:ext cx="9144000" cy="75438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4453128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  quick-labour.onrender.com</a:t>
            </a:r>
            <a:r>
              <a:rPr lang="en-US" sz="1300" dirty="0">
                <a:solidFill>
                  <a:srgbClr val="AECD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|     College Project  |  Full-Stack Web Development</a:t>
            </a:r>
            <a:endParaRPr lang="en-US" sz="13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 Table of Contents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078992"/>
            <a:ext cx="4160520" cy="256032"/>
          </a:xfrm>
          <a:prstGeom prst="rect">
            <a:avLst/>
          </a:prstGeom>
          <a:solidFill>
            <a:srgbClr val="F0F7FF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75488" y="1097280"/>
            <a:ext cx="39319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</a:t>
            </a: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 &amp; Problem Statement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389888"/>
            <a:ext cx="4160520" cy="256032"/>
          </a:xfrm>
          <a:prstGeom prst="rect">
            <a:avLst/>
          </a:prstGeom>
          <a:solidFill>
            <a:srgbClr val="F0F7FF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75488" y="1408176"/>
            <a:ext cx="39319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</a:t>
            </a: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 &amp; Key Features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" y="1700784"/>
            <a:ext cx="4160520" cy="256032"/>
          </a:xfrm>
          <a:prstGeom prst="rect">
            <a:avLst/>
          </a:prstGeom>
          <a:solidFill>
            <a:srgbClr val="F0F7FF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75488" y="1719072"/>
            <a:ext cx="39319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</a:t>
            </a: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Walkthrough — Home Page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65760" y="2011680"/>
            <a:ext cx="4160520" cy="256032"/>
          </a:xfrm>
          <a:prstGeom prst="rect">
            <a:avLst/>
          </a:prstGeom>
          <a:solidFill>
            <a:srgbClr val="F0F7FF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5488" y="2029968"/>
            <a:ext cx="39319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</a:t>
            </a: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Portal Login System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65760" y="2322576"/>
            <a:ext cx="4160520" cy="256032"/>
          </a:xfrm>
          <a:prstGeom prst="rect">
            <a:avLst/>
          </a:prstGeom>
          <a:solidFill>
            <a:srgbClr val="F0F7FF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5488" y="2340864"/>
            <a:ext cx="39319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</a:t>
            </a: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Registration — Client &amp; Worker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65760" y="2633472"/>
            <a:ext cx="4160520" cy="256032"/>
          </a:xfrm>
          <a:prstGeom prst="rect">
            <a:avLst/>
          </a:prstGeom>
          <a:solidFill>
            <a:srgbClr val="F0F7FF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5488" y="2651760"/>
            <a:ext cx="39319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 </a:t>
            </a: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Worker Dashboard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65760" y="2944368"/>
            <a:ext cx="4160520" cy="256032"/>
          </a:xfrm>
          <a:prstGeom prst="rect">
            <a:avLst/>
          </a:prstGeom>
          <a:solidFill>
            <a:srgbClr val="F0F7FF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5488" y="2962656"/>
            <a:ext cx="39319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 </a:t>
            </a: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Dashboard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754880" y="1078992"/>
            <a:ext cx="4160520" cy="256032"/>
          </a:xfrm>
          <a:prstGeom prst="rect">
            <a:avLst/>
          </a:prstGeom>
          <a:solidFill>
            <a:srgbClr val="FFF8ED"/>
          </a:solidFill>
          <a:ln w="12700">
            <a:solidFill>
              <a:srgbClr val="FDE68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64608" y="1097280"/>
            <a:ext cx="39319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 </a:t>
            </a: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Control Center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754880" y="1389888"/>
            <a:ext cx="4160520" cy="256032"/>
          </a:xfrm>
          <a:prstGeom prst="rect">
            <a:avLst/>
          </a:prstGeom>
          <a:solidFill>
            <a:srgbClr val="FFF8ED"/>
          </a:solidFill>
          <a:ln w="12700">
            <a:solidFill>
              <a:srgbClr val="FDE68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64608" y="1408176"/>
            <a:ext cx="39319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 </a:t>
            </a: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— MongoDB Atlas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754880" y="1700784"/>
            <a:ext cx="4160520" cy="256032"/>
          </a:xfrm>
          <a:prstGeom prst="rect">
            <a:avLst/>
          </a:prstGeom>
          <a:solidFill>
            <a:srgbClr val="FFF8ED"/>
          </a:solidFill>
          <a:ln w="12700">
            <a:solidFill>
              <a:srgbClr val="FDE68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64608" y="1719072"/>
            <a:ext cx="39319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 </a:t>
            </a: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Stack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754880" y="2011680"/>
            <a:ext cx="4160520" cy="256032"/>
          </a:xfrm>
          <a:prstGeom prst="rect">
            <a:avLst/>
          </a:prstGeom>
          <a:solidFill>
            <a:srgbClr val="FFF8ED"/>
          </a:solidFill>
          <a:ln w="12700">
            <a:solidFill>
              <a:srgbClr val="FDE68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64608" y="2029968"/>
            <a:ext cx="39319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 </a:t>
            </a: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754880" y="2322576"/>
            <a:ext cx="4160520" cy="256032"/>
          </a:xfrm>
          <a:prstGeom prst="rect">
            <a:avLst/>
          </a:prstGeom>
          <a:solidFill>
            <a:srgbClr val="FFF8ED"/>
          </a:solidFill>
          <a:ln w="12700">
            <a:solidFill>
              <a:srgbClr val="FDE68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64608" y="2340864"/>
            <a:ext cx="39319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 </a:t>
            </a: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Challenges &amp; Learnings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754880" y="2633472"/>
            <a:ext cx="4160520" cy="256032"/>
          </a:xfrm>
          <a:prstGeom prst="rect">
            <a:avLst/>
          </a:prstGeom>
          <a:solidFill>
            <a:srgbClr val="FFF8ED"/>
          </a:solidFill>
          <a:ln w="12700">
            <a:solidFill>
              <a:srgbClr val="FDE68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864608" y="2651760"/>
            <a:ext cx="39319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 </a:t>
            </a: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Scope &amp; Thank You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F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❓  The Problem We Solved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1024128"/>
            <a:ext cx="4160520" cy="1627632"/>
          </a:xfrm>
          <a:prstGeom prst="rect">
            <a:avLst/>
          </a:prstGeom>
          <a:solidFill>
            <a:srgbClr val="152A47"/>
          </a:solidFill>
          <a:ln w="12700">
            <a:solidFill>
              <a:srgbClr val="1E3F6A"/>
            </a:solidFill>
            <a:prstDash val="solid"/>
          </a:ln>
          <a:effectLst>
            <a:outerShdw blurRad="1270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024128"/>
            <a:ext cx="4160520" cy="384048"/>
          </a:xfrm>
          <a:prstGeom prst="rect">
            <a:avLst/>
          </a:prstGeom>
          <a:solidFill>
            <a:srgbClr val="F5A623">
              <a:alpha val="85000"/>
            </a:srgbClr>
          </a:solidFill>
          <a:ln w="12700">
            <a:solidFill>
              <a:srgbClr val="F5A623">
                <a:alpha val="85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38912" y="1078992"/>
            <a:ext cx="3840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⏳  No Central Platform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438912" y="1517904"/>
            <a:ext cx="38404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ECD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Workers &amp; employers had no dedicated digital marketplace in India for on-demand skilled labour hiring.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709160" y="1024128"/>
            <a:ext cx="4160520" cy="1627632"/>
          </a:xfrm>
          <a:prstGeom prst="rect">
            <a:avLst/>
          </a:prstGeom>
          <a:solidFill>
            <a:srgbClr val="152A47"/>
          </a:solidFill>
          <a:ln w="12700">
            <a:solidFill>
              <a:srgbClr val="1E3F6A"/>
            </a:solidFill>
            <a:prstDash val="solid"/>
          </a:ln>
          <a:effectLst>
            <a:outerShdw blurRad="1270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09160" y="1024128"/>
            <a:ext cx="4160520" cy="384048"/>
          </a:xfrm>
          <a:prstGeom prst="rect">
            <a:avLst/>
          </a:prstGeom>
          <a:solidFill>
            <a:srgbClr val="F5A623">
              <a:alpha val="85000"/>
            </a:srgbClr>
          </a:solidFill>
          <a:ln w="12700">
            <a:solidFill>
              <a:srgbClr val="F5A623">
                <a:alpha val="85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73752" y="1078992"/>
            <a:ext cx="3840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🔎  Difficult to Find Workers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4873752" y="1517904"/>
            <a:ext cx="38404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ECD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Employers wasted days searching informally — through word of mouth, middlemen, or unreliable classifieds.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" y="2834640"/>
            <a:ext cx="4160520" cy="1627632"/>
          </a:xfrm>
          <a:prstGeom prst="rect">
            <a:avLst/>
          </a:prstGeom>
          <a:solidFill>
            <a:srgbClr val="152A47"/>
          </a:solidFill>
          <a:ln w="12700">
            <a:solidFill>
              <a:srgbClr val="1E3F6A"/>
            </a:solidFill>
            <a:prstDash val="solid"/>
          </a:ln>
          <a:effectLst>
            <a:outerShdw blurRad="1270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74320" y="2834640"/>
            <a:ext cx="4160520" cy="384048"/>
          </a:xfrm>
          <a:prstGeom prst="rect">
            <a:avLst/>
          </a:prstGeom>
          <a:solidFill>
            <a:srgbClr val="F5A623">
              <a:alpha val="85000"/>
            </a:srgbClr>
          </a:solidFill>
          <a:ln w="12700">
            <a:solidFill>
              <a:srgbClr val="F5A623">
                <a:alpha val="85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38912" y="2889504"/>
            <a:ext cx="3840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💸  Exploitation &amp; Unfair Wages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438912" y="3328416"/>
            <a:ext cx="38404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ECD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Lack of transparency allowed middlemen to exploit workers with below-market pay and no accountability.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709160" y="2834640"/>
            <a:ext cx="4160520" cy="1627632"/>
          </a:xfrm>
          <a:prstGeom prst="rect">
            <a:avLst/>
          </a:prstGeom>
          <a:solidFill>
            <a:srgbClr val="152A47"/>
          </a:solidFill>
          <a:ln w="12700">
            <a:solidFill>
              <a:srgbClr val="1E3F6A"/>
            </a:solidFill>
            <a:prstDash val="solid"/>
          </a:ln>
          <a:effectLst>
            <a:outerShdw blurRad="1270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709160" y="2834640"/>
            <a:ext cx="4160520" cy="384048"/>
          </a:xfrm>
          <a:prstGeom prst="rect">
            <a:avLst/>
          </a:prstGeom>
          <a:solidFill>
            <a:srgbClr val="F5A623">
              <a:alpha val="85000"/>
            </a:srgbClr>
          </a:solidFill>
          <a:ln w="12700">
            <a:solidFill>
              <a:srgbClr val="F5A623">
                <a:alpha val="85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73752" y="2889504"/>
            <a:ext cx="3840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📵  Workers Remain Undiscovered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4873752" y="3328416"/>
            <a:ext cx="38404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ECD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Skilled tradespeople in local areas — electricians, plumbers, carpenters — had no way to show their availability.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8A72"/>
          </a:solidFill>
          <a:ln w="12700">
            <a:solidFill>
              <a:srgbClr val="0D8A7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Our Solution — QuickLabour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98755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full-stack web platform connecting clients with verified skilled workers instantly — no middlemen, full transparency.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256032" y="1645920"/>
            <a:ext cx="2743200" cy="135331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56032" y="1645920"/>
            <a:ext cx="54864" cy="1353312"/>
          </a:xfrm>
          <a:prstGeom prst="rect">
            <a:avLst/>
          </a:prstGeom>
          <a:solidFill>
            <a:srgbClr val="0D8A72"/>
          </a:solidFill>
          <a:ln w="12700">
            <a:solidFill>
              <a:srgbClr val="0D8A7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20624" y="1719072"/>
            <a:ext cx="457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20624" y="2066544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 &amp; Hire Workers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20624" y="2414016"/>
            <a:ext cx="24688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verified workers by trade (Electrician, Plumber, Painter…) with ratings, pricing &amp; availability shown.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246120" y="1645920"/>
            <a:ext cx="2743200" cy="135331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46120" y="1645920"/>
            <a:ext cx="54864" cy="1353312"/>
          </a:xfrm>
          <a:prstGeom prst="rect">
            <a:avLst/>
          </a:prstGeom>
          <a:solidFill>
            <a:srgbClr val="0D8A72"/>
          </a:solidFill>
          <a:ln w="12700">
            <a:solidFill>
              <a:srgbClr val="0D8A7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410712" y="1719072"/>
            <a:ext cx="457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3410712" y="2066544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Jobs Instantly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410712" y="2414016"/>
            <a:ext cx="24688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Clients post detailed job requests. Workers receive nearby invitations and can accept within minutes.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236208" y="1645920"/>
            <a:ext cx="2743200" cy="135331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236208" y="1645920"/>
            <a:ext cx="54864" cy="1353312"/>
          </a:xfrm>
          <a:prstGeom prst="rect">
            <a:avLst/>
          </a:prstGeom>
          <a:solidFill>
            <a:srgbClr val="0D8A72"/>
          </a:solidFill>
          <a:ln w="12700">
            <a:solidFill>
              <a:srgbClr val="0D8A7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0" y="1719072"/>
            <a:ext cx="457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6400800" y="2066544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 Portal System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400800" y="2414016"/>
            <a:ext cx="24688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Separate login portals for Clients and Workers, each with a personalised dashboard and profile.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256032" y="3090672"/>
            <a:ext cx="2743200" cy="135331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256032" y="3090672"/>
            <a:ext cx="54864" cy="1353312"/>
          </a:xfrm>
          <a:prstGeom prst="rect">
            <a:avLst/>
          </a:prstGeom>
          <a:solidFill>
            <a:srgbClr val="0D8A72"/>
          </a:solidFill>
          <a:ln w="12700">
            <a:solidFill>
              <a:srgbClr val="0D8A7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20624" y="3163824"/>
            <a:ext cx="457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420624" y="3511296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Control Center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20624" y="3858768"/>
            <a:ext cx="24688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admin panel for platform moderation — manage users, jobs, reviews, inquiries &amp; revenue metrics.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3246120" y="3090672"/>
            <a:ext cx="2743200" cy="135331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246120" y="3090672"/>
            <a:ext cx="54864" cy="1353312"/>
          </a:xfrm>
          <a:prstGeom prst="rect">
            <a:avLst/>
          </a:prstGeom>
          <a:solidFill>
            <a:srgbClr val="0D8A72"/>
          </a:solidFill>
          <a:ln w="12700">
            <a:solidFill>
              <a:srgbClr val="0D8A7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410712" y="3163824"/>
            <a:ext cx="457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3410712" y="3511296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Earnings Tracker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3410712" y="3858768"/>
            <a:ext cx="24688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Workers track completed jobs, monthly earnings (₹) and ratings from their own dashboard.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6236208" y="3090672"/>
            <a:ext cx="2743200" cy="135331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236208" y="3090672"/>
            <a:ext cx="54864" cy="1353312"/>
          </a:xfrm>
          <a:prstGeom prst="rect">
            <a:avLst/>
          </a:prstGeom>
          <a:solidFill>
            <a:srgbClr val="0D8A72"/>
          </a:solidFill>
          <a:ln w="12700">
            <a:solidFill>
              <a:srgbClr val="0D8A72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00800" y="3163824"/>
            <a:ext cx="457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6400800" y="3511296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Aadhaar Verification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6400800" y="3858768"/>
            <a:ext cx="24688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Workers upload ID proof for verified status, building trust with clients across the platform.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F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91440"/>
            <a:ext cx="64008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🏠  Home Page — Hero Section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772400" y="164592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ECD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3 / 23</a:t>
            </a:r>
            <a:endParaRPr lang="en-US" sz="1000" dirty="0"/>
          </a:p>
        </p:txBody>
      </p:sp>
      <p:pic>
        <p:nvPicPr>
          <p:cNvPr id="5" name="Image 0" descr="/home/claude/quicklabour-ppt/imgs/hom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841248"/>
            <a:ext cx="8686800" cy="3977640"/>
          </a:xfrm>
          <a:prstGeom prst="rect">
            <a:avLst/>
          </a:prstGeom>
          <a:effectLst>
            <a:outerShdw blurRad="127000" dist="38100" dir="8100000" algn="bl" rotWithShape="0">
              <a:srgbClr val="000000">
                <a:alpha val="12000"/>
              </a:srgbClr>
            </a:outerShdw>
          </a:effectLst>
        </p:spPr>
      </p:pic>
      <p:sp>
        <p:nvSpPr>
          <p:cNvPr id="6" name="Shape 3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365760" y="4690872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elements: </a:t>
            </a:r>
            <a:r>
              <a:rPr lang="en-US" sz="1100" dirty="0">
                <a:solidFill>
                  <a:srgbClr val="AECD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"Hire Skilled Workers in Minutes" hero • 50,000+ Workers badge • 4.8 Rating • Verified Profiles • Find Workers CTA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🏠  Home Page — Feature Highlights</a:t>
            </a:r>
            <a:endParaRPr lang="en-US" sz="2600" dirty="0"/>
          </a:p>
        </p:txBody>
      </p:sp>
      <p:pic>
        <p:nvPicPr>
          <p:cNvPr id="4" name="Image 0" descr="/home/claude/quicklabour-ppt/imgs/hom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1024128"/>
            <a:ext cx="3931920" cy="2194560"/>
          </a:xfrm>
          <a:prstGeom prst="rect">
            <a:avLst/>
          </a:prstGeom>
          <a:effectLst>
            <a:outerShdw blurRad="127000" dist="38100" dir="8100000" algn="bl" rotWithShape="0">
              <a:srgbClr val="000000">
                <a:alpha val="12000"/>
              </a:srgbClr>
            </a:outerShdw>
          </a:effectLst>
        </p:spPr>
      </p:pic>
      <p:sp>
        <p:nvSpPr>
          <p:cNvPr id="5" name="Shape 2"/>
          <p:cNvSpPr/>
          <p:nvPr/>
        </p:nvSpPr>
        <p:spPr>
          <a:xfrm>
            <a:off x="4480560" y="1024128"/>
            <a:ext cx="44348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4645152" y="1069848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Brand Logo + Tagline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4645152" y="1344168"/>
            <a:ext cx="41148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QuickLabour lightning bolt logo with clear tagline across the dark navy navbar.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4480560" y="1773936"/>
            <a:ext cx="44348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4645152" y="1819656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🔗  Navigation Menu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4645152" y="2093976"/>
            <a:ext cx="41148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Home, Categories, Works, How It Works, Reviews, Contact — and Portal Login button.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4480560" y="2523744"/>
            <a:ext cx="44348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4645152" y="2569464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👷  Hero Banner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4645152" y="2843784"/>
            <a:ext cx="41148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"Hire Skilled Workers in Minutes" with real worker imagery and two CTA buttons.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4480560" y="3273552"/>
            <a:ext cx="44348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4645152" y="3319272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Trust Indicators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4645152" y="3593592"/>
            <a:ext cx="41148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50,000+ Workers, 4.8 Rating, Verified Profiles shown prominently below the hero.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4480560" y="4023360"/>
            <a:ext cx="44348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4645152" y="40690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🎨  Dark-Blue Theme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4645152" y="4343400"/>
            <a:ext cx="41148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Consistent dark navy background with gold accent colour matching the app identity.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F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91440"/>
            <a:ext cx="7315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🔐  Portal Login System</a:t>
            </a:r>
            <a:endParaRPr lang="en-US" sz="2200" dirty="0"/>
          </a:p>
        </p:txBody>
      </p:sp>
      <p:pic>
        <p:nvPicPr>
          <p:cNvPr id="4" name="Image 0" descr="/home/claude/quicklabour-ppt/imgs/login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868680"/>
            <a:ext cx="4754880" cy="3931920"/>
          </a:xfrm>
          <a:prstGeom prst="rect">
            <a:avLst/>
          </a:prstGeom>
          <a:effectLst>
            <a:outerShdw blurRad="127000" dist="38100" dir="8100000" algn="bl" rotWithShape="0">
              <a:srgbClr val="000000">
                <a:alpha val="12000"/>
              </a:srgbClr>
            </a:outerShdw>
          </a:effectLst>
        </p:spPr>
      </p:pic>
      <p:sp>
        <p:nvSpPr>
          <p:cNvPr id="5" name="Shape 2"/>
          <p:cNvSpPr/>
          <p:nvPr/>
        </p:nvSpPr>
        <p:spPr>
          <a:xfrm>
            <a:off x="5257800" y="868680"/>
            <a:ext cx="3611880" cy="658368"/>
          </a:xfrm>
          <a:prstGeom prst="rect">
            <a:avLst/>
          </a:prstGeom>
          <a:solidFill>
            <a:srgbClr val="152A47"/>
          </a:solidFill>
          <a:ln w="12700">
            <a:solidFill>
              <a:srgbClr val="1E3F6A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422392" y="914400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 Portal Tabs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5422392" y="1179576"/>
            <a:ext cx="32918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ECD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select Client Portal or Worker Portal before entering credentials — separate access paths.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5257800" y="1636776"/>
            <a:ext cx="3611880" cy="658368"/>
          </a:xfrm>
          <a:prstGeom prst="rect">
            <a:avLst/>
          </a:prstGeom>
          <a:solidFill>
            <a:srgbClr val="152A47"/>
          </a:solidFill>
          <a:ln w="12700">
            <a:solidFill>
              <a:srgbClr val="1E3F6A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422392" y="1682496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Credentials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5422392" y="1947672"/>
            <a:ext cx="32918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ECD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or phone + password login. Remember Me option for convenience.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5257800" y="2404872"/>
            <a:ext cx="3611880" cy="658368"/>
          </a:xfrm>
          <a:prstGeom prst="rect">
            <a:avLst/>
          </a:prstGeom>
          <a:solidFill>
            <a:srgbClr val="152A47"/>
          </a:solidFill>
          <a:ln w="12700">
            <a:solidFill>
              <a:srgbClr val="1E3F6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422392" y="2450592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Forgot Password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5422392" y="2715768"/>
            <a:ext cx="32918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ECD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Built-in password recovery flow for both portal types.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5257800" y="3172968"/>
            <a:ext cx="3611880" cy="658368"/>
          </a:xfrm>
          <a:prstGeom prst="rect">
            <a:avLst/>
          </a:prstGeom>
          <a:solidFill>
            <a:srgbClr val="152A47"/>
          </a:solidFill>
          <a:ln w="12700">
            <a:solidFill>
              <a:srgbClr val="1E3F6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422392" y="3218688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Redirect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5422392" y="3483864"/>
            <a:ext cx="32918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ECD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routes user to the correct dashboard (client/worker/admin) based on account type.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5257800" y="3941064"/>
            <a:ext cx="3611880" cy="658368"/>
          </a:xfrm>
          <a:prstGeom prst="rect">
            <a:avLst/>
          </a:prstGeom>
          <a:solidFill>
            <a:srgbClr val="152A47"/>
          </a:solidFill>
          <a:ln w="12700">
            <a:solidFill>
              <a:srgbClr val="1E3F6A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5422392" y="3986784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 CTA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5422392" y="4251960"/>
            <a:ext cx="32918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ECD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users directed to registration with a single click.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8A72"/>
          </a:solidFill>
          <a:ln w="12700">
            <a:solidFill>
              <a:srgbClr val="0D8A7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📝  Registration — Client Portal</a:t>
            </a:r>
            <a:endParaRPr lang="en-US" sz="2600" dirty="0"/>
          </a:p>
        </p:txBody>
      </p:sp>
      <p:pic>
        <p:nvPicPr>
          <p:cNvPr id="4" name="Image 0" descr="/home/claude/quicklabour-ppt/imgs/reg_client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1005840"/>
            <a:ext cx="4206240" cy="3794760"/>
          </a:xfrm>
          <a:prstGeom prst="rect">
            <a:avLst/>
          </a:prstGeom>
          <a:effectLst>
            <a:outerShdw blurRad="127000" dist="38100" dir="8100000" algn="bl" rotWithShape="0">
              <a:srgbClr val="000000">
                <a:alpha val="12000"/>
              </a:srgbClr>
            </a:outerShdw>
          </a:effectLst>
        </p:spPr>
      </p:pic>
      <p:sp>
        <p:nvSpPr>
          <p:cNvPr id="5" name="Shape 2"/>
          <p:cNvSpPr/>
          <p:nvPr/>
        </p:nvSpPr>
        <p:spPr>
          <a:xfrm>
            <a:off x="4663440" y="1005840"/>
            <a:ext cx="4206240" cy="3794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4846320" y="1115568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 Fields Included: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4846320" y="1572768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D8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</a:t>
            </a: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 photo upload (face image)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4846320" y="2011680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D8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</a:t>
            </a: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Name &amp; Contact Number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4846320" y="2450592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D8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</a:t>
            </a: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Address + GPS Live Location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4846320" y="2889504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D8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</a:t>
            </a: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ID Proof Document type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4846320" y="3328416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D8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</a:t>
            </a: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ID Card (PDF / Image)</a:t>
            </a:r>
            <a:endParaRPr lang="en-US" sz="1150" dirty="0"/>
          </a:p>
        </p:txBody>
      </p:sp>
      <p:sp>
        <p:nvSpPr>
          <p:cNvPr id="12" name="Text 9"/>
          <p:cNvSpPr/>
          <p:nvPr/>
        </p:nvSpPr>
        <p:spPr>
          <a:xfrm>
            <a:off x="4846320" y="3767328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D8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</a:t>
            </a: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 with strength requirements</a:t>
            </a:r>
            <a:endParaRPr lang="en-US" sz="1150" dirty="0"/>
          </a:p>
        </p:txBody>
      </p:sp>
      <p:sp>
        <p:nvSpPr>
          <p:cNvPr id="13" name="Text 10"/>
          <p:cNvSpPr/>
          <p:nvPr/>
        </p:nvSpPr>
        <p:spPr>
          <a:xfrm>
            <a:off x="4846320" y="4206240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D8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</a:t>
            </a: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 as Client Partner button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F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91440"/>
            <a:ext cx="7315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👷  Registration — Worker Portal</a:t>
            </a:r>
            <a:endParaRPr lang="en-US" sz="2200" dirty="0"/>
          </a:p>
        </p:txBody>
      </p:sp>
      <p:pic>
        <p:nvPicPr>
          <p:cNvPr id="4" name="Image 0" descr="/home/claude/quicklabour-ppt/imgs/reg_worker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" y="868680"/>
            <a:ext cx="2560320" cy="4023360"/>
          </a:xfrm>
          <a:prstGeom prst="rect">
            <a:avLst/>
          </a:prstGeom>
          <a:effectLst>
            <a:outerShdw blurRad="127000" dist="38100" dir="8100000" algn="bl" rotWithShape="0">
              <a:srgbClr val="000000">
                <a:alpha val="12000"/>
              </a:srgbClr>
            </a:outerShdw>
          </a:effectLst>
        </p:spPr>
      </p:pic>
      <p:sp>
        <p:nvSpPr>
          <p:cNvPr id="5" name="Shape 2"/>
          <p:cNvSpPr/>
          <p:nvPr/>
        </p:nvSpPr>
        <p:spPr>
          <a:xfrm>
            <a:off x="3931920" y="868680"/>
            <a:ext cx="4983480" cy="713232"/>
          </a:xfrm>
          <a:prstGeom prst="rect">
            <a:avLst/>
          </a:prstGeom>
          <a:solidFill>
            <a:srgbClr val="152A47"/>
          </a:solidFill>
          <a:ln w="12700">
            <a:solidFill>
              <a:srgbClr val="1E3F6A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4114800" y="923544"/>
            <a:ext cx="4663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2-Step Trade Selection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4114800" y="1188720"/>
            <a:ext cx="4663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ECD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1: Select Industry (Construction, Factory, Agricultural, Transport…). Step 2: Select specific trade (Mason, Carpenter, Electrician…).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3931920" y="1691640"/>
            <a:ext cx="4983480" cy="713232"/>
          </a:xfrm>
          <a:prstGeom prst="rect">
            <a:avLst/>
          </a:prstGeom>
          <a:solidFill>
            <a:srgbClr val="152A47"/>
          </a:solidFill>
          <a:ln w="12700">
            <a:solidFill>
              <a:srgbClr val="1E3F6A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114800" y="1746504"/>
            <a:ext cx="4663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Rate Display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4114800" y="2011680"/>
            <a:ext cx="4663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ECD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Once a trade is selected, the platform shows the base daily rate (e.g. ₹800/day for Construction Labour).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3931920" y="2514600"/>
            <a:ext cx="4983480" cy="713232"/>
          </a:xfrm>
          <a:prstGeom prst="rect">
            <a:avLst/>
          </a:prstGeom>
          <a:solidFill>
            <a:srgbClr val="152A47"/>
          </a:solidFill>
          <a:ln w="12700">
            <a:solidFill>
              <a:srgbClr val="1E3F6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114800" y="2569464"/>
            <a:ext cx="4663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Industry Categories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4114800" y="2834640"/>
            <a:ext cx="4663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ECD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Construction • Factory • Agricultural • Transport • Cleaning • Domestic • Skilled Technical • Mining &amp; Heavy Work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3931920" y="3337560"/>
            <a:ext cx="4983480" cy="713232"/>
          </a:xfrm>
          <a:prstGeom prst="rect">
            <a:avLst/>
          </a:prstGeom>
          <a:solidFill>
            <a:srgbClr val="152A47"/>
          </a:solidFill>
          <a:ln w="12700">
            <a:solidFill>
              <a:srgbClr val="1E3F6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114800" y="3392424"/>
            <a:ext cx="4663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 Verification</a:t>
            </a:r>
            <a:endParaRPr lang="en-US" sz="1250" dirty="0"/>
          </a:p>
        </p:txBody>
      </p:sp>
      <p:sp>
        <p:nvSpPr>
          <p:cNvPr id="16" name="Text 13"/>
          <p:cNvSpPr/>
          <p:nvPr/>
        </p:nvSpPr>
        <p:spPr>
          <a:xfrm>
            <a:off x="4114800" y="3657600"/>
            <a:ext cx="4663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ECD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Workers upload Aadhaar Card or other ID proof to earn a verified badge on their profile.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3931920" y="4160520"/>
            <a:ext cx="4983480" cy="713232"/>
          </a:xfrm>
          <a:prstGeom prst="rect">
            <a:avLst/>
          </a:prstGeom>
          <a:solidFill>
            <a:srgbClr val="152A47"/>
          </a:solidFill>
          <a:ln w="12700">
            <a:solidFill>
              <a:srgbClr val="1E3F6A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4114800" y="4215384"/>
            <a:ext cx="4663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 Upload</a:t>
            </a:r>
            <a:endParaRPr lang="en-US" sz="1250" dirty="0"/>
          </a:p>
        </p:txBody>
      </p:sp>
      <p:sp>
        <p:nvSpPr>
          <p:cNvPr id="19" name="Text 16"/>
          <p:cNvSpPr/>
          <p:nvPr/>
        </p:nvSpPr>
        <p:spPr>
          <a:xfrm>
            <a:off x="4114800" y="4480560"/>
            <a:ext cx="4663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ECD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Workers add a clear profile photo to build trust with potential clients.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F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91440"/>
            <a:ext cx="7315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⚙️  Worker Dashboard — Overview</a:t>
            </a:r>
            <a:endParaRPr lang="en-US" sz="2200" dirty="0"/>
          </a:p>
        </p:txBody>
      </p:sp>
      <p:sp>
        <p:nvSpPr>
          <p:cNvPr id="5" name="Shape 2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365760" y="4690872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Features: </a:t>
            </a:r>
            <a:r>
              <a:rPr lang="en-US" sz="1100" dirty="0">
                <a:solidFill>
                  <a:srgbClr val="AECD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Online/Offline toggle • Jobs Completed counter • Monthly Earnings (₹19,750) • Worker Rating (5★) • Nearby Job Invitations • Worker Profile panel</a:t>
            </a:r>
            <a:endParaRPr lang="en-US" sz="11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C9C6338-9035-A170-D146-E8D8BC0869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148" y="657440"/>
            <a:ext cx="8949704" cy="382862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⚙️  Worker Dashboard — Feature Breakdown</a:t>
            </a:r>
            <a:endParaRPr lang="en-US" sz="2400" dirty="0"/>
          </a:p>
        </p:txBody>
      </p:sp>
      <p:sp>
        <p:nvSpPr>
          <p:cNvPr id="5" name="Shape 2"/>
          <p:cNvSpPr/>
          <p:nvPr/>
        </p:nvSpPr>
        <p:spPr>
          <a:xfrm>
            <a:off x="4709160" y="1024128"/>
            <a:ext cx="425196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4873752" y="1078992"/>
            <a:ext cx="39319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Jobs Completed Tracker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4873752" y="1408176"/>
            <a:ext cx="39319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count of successfully finished jobs shown prominently on the dashboard.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4709160" y="2011680"/>
            <a:ext cx="425196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4873752" y="2066544"/>
            <a:ext cx="39319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⭐  Worker Rating Display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4873752" y="2395728"/>
            <a:ext cx="39319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star rating (1–5) visible to the worker — builds accountability and pride.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228600" y="2999232"/>
            <a:ext cx="425196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393192" y="3054096"/>
            <a:ext cx="39319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📨  Nearby Job Invitations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393192" y="3383280"/>
            <a:ext cx="39319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Location-based job invitations appear here — worker can review and accept posted jobs.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4709160" y="2999232"/>
            <a:ext cx="425196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4873752" y="3054096"/>
            <a:ext cx="39319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👤  Worker Profile Panel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4873752" y="3383280"/>
            <a:ext cx="39319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Right-side panel shows photo, trade, location, and account settings at a glance.</a:t>
            </a:r>
            <a:endParaRPr lang="en-US" sz="1050" dirty="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1826B53D-701B-44FD-9C07-6EBFB83807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" y="908548"/>
            <a:ext cx="4297680" cy="2063252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⚙️  Worker Dashboard — All Features</a:t>
            </a:r>
            <a:endParaRPr lang="en-US" sz="2400" dirty="0"/>
          </a:p>
        </p:txBody>
      </p:sp>
      <p:sp>
        <p:nvSpPr>
          <p:cNvPr id="5" name="Shape 2"/>
          <p:cNvSpPr/>
          <p:nvPr/>
        </p:nvSpPr>
        <p:spPr>
          <a:xfrm>
            <a:off x="4297680" y="1005840"/>
            <a:ext cx="233172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4407408" y="1060704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🟢  Online Toggle</a:t>
            </a:r>
            <a:endParaRPr lang="en-US" sz="1150" dirty="0"/>
          </a:p>
        </p:txBody>
      </p:sp>
      <p:sp>
        <p:nvSpPr>
          <p:cNvPr id="7" name="Text 4"/>
          <p:cNvSpPr/>
          <p:nvPr/>
        </p:nvSpPr>
        <p:spPr>
          <a:xfrm>
            <a:off x="4407408" y="1353312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Instantly switch availability — only online workers appear in client search.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6583680" y="1005840"/>
            <a:ext cx="233172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6693408" y="1060704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Jobs Completed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6693408" y="1353312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completed jobs tracked and displayed.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4297680" y="2029968"/>
            <a:ext cx="233172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4407408" y="2084832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💰  Monthly Earnings ₹</a:t>
            </a:r>
            <a:endParaRPr lang="en-US" sz="1150" dirty="0"/>
          </a:p>
        </p:txBody>
      </p:sp>
      <p:sp>
        <p:nvSpPr>
          <p:cNvPr id="13" name="Text 10"/>
          <p:cNvSpPr/>
          <p:nvPr/>
        </p:nvSpPr>
        <p:spPr>
          <a:xfrm>
            <a:off x="4407408" y="237744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monthly income display (e.g. ₹19,750 this month).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6583680" y="2029968"/>
            <a:ext cx="233172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6693408" y="2084832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⭐  Worker Rating</a:t>
            </a:r>
            <a:endParaRPr lang="en-US" sz="1150" dirty="0"/>
          </a:p>
        </p:txBody>
      </p:sp>
      <p:sp>
        <p:nvSpPr>
          <p:cNvPr id="16" name="Text 13"/>
          <p:cNvSpPr/>
          <p:nvPr/>
        </p:nvSpPr>
        <p:spPr>
          <a:xfrm>
            <a:off x="6693408" y="237744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 rating (5★) built from client reviews.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4297680" y="3054096"/>
            <a:ext cx="233172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4407408" y="310896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📨  Job Invitations</a:t>
            </a:r>
            <a:endParaRPr lang="en-US" sz="1150" dirty="0"/>
          </a:p>
        </p:txBody>
      </p:sp>
      <p:sp>
        <p:nvSpPr>
          <p:cNvPr id="19" name="Text 16"/>
          <p:cNvSpPr/>
          <p:nvPr/>
        </p:nvSpPr>
        <p:spPr>
          <a:xfrm>
            <a:off x="4407408" y="3401568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Location-based job invites from clients appear here.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6583680" y="3054096"/>
            <a:ext cx="233172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Text 18"/>
          <p:cNvSpPr/>
          <p:nvPr/>
        </p:nvSpPr>
        <p:spPr>
          <a:xfrm>
            <a:off x="6693408" y="310896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👤  Profile Panel</a:t>
            </a:r>
            <a:endParaRPr lang="en-US" sz="1150" dirty="0"/>
          </a:p>
        </p:txBody>
      </p:sp>
      <p:sp>
        <p:nvSpPr>
          <p:cNvPr id="22" name="Text 19"/>
          <p:cNvSpPr/>
          <p:nvPr/>
        </p:nvSpPr>
        <p:spPr>
          <a:xfrm>
            <a:off x="6693408" y="3401568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Photo, trade, address visible in the right panel.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228600" y="3291840"/>
            <a:ext cx="86868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228600" y="3319272"/>
            <a:ext cx="868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D8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5" name="Text 22"/>
          <p:cNvSpPr/>
          <p:nvPr/>
        </p:nvSpPr>
        <p:spPr>
          <a:xfrm>
            <a:off x="228600" y="3657600"/>
            <a:ext cx="868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Jobs Done</a:t>
            </a:r>
            <a:endParaRPr lang="en-US" sz="900" dirty="0"/>
          </a:p>
        </p:txBody>
      </p:sp>
      <p:sp>
        <p:nvSpPr>
          <p:cNvPr id="26" name="Shape 23"/>
          <p:cNvSpPr/>
          <p:nvPr/>
        </p:nvSpPr>
        <p:spPr>
          <a:xfrm>
            <a:off x="1216152" y="3291840"/>
            <a:ext cx="86868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1216152" y="3319272"/>
            <a:ext cx="868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₹19,750</a:t>
            </a:r>
            <a:endParaRPr lang="en-US" sz="1500" dirty="0"/>
          </a:p>
        </p:txBody>
      </p:sp>
      <p:sp>
        <p:nvSpPr>
          <p:cNvPr id="28" name="Text 25"/>
          <p:cNvSpPr/>
          <p:nvPr/>
        </p:nvSpPr>
        <p:spPr>
          <a:xfrm>
            <a:off x="1216152" y="3657600"/>
            <a:ext cx="868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Month</a:t>
            </a:r>
            <a:endParaRPr lang="en-US" sz="900" dirty="0"/>
          </a:p>
        </p:txBody>
      </p:sp>
      <p:sp>
        <p:nvSpPr>
          <p:cNvPr id="29" name="Shape 26"/>
          <p:cNvSpPr/>
          <p:nvPr/>
        </p:nvSpPr>
        <p:spPr>
          <a:xfrm>
            <a:off x="2203704" y="3291840"/>
            <a:ext cx="86868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2203704" y="3319272"/>
            <a:ext cx="868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★</a:t>
            </a:r>
            <a:endParaRPr lang="en-US" sz="1500" dirty="0"/>
          </a:p>
        </p:txBody>
      </p:sp>
      <p:sp>
        <p:nvSpPr>
          <p:cNvPr id="31" name="Text 28"/>
          <p:cNvSpPr/>
          <p:nvPr/>
        </p:nvSpPr>
        <p:spPr>
          <a:xfrm>
            <a:off x="2203704" y="3657600"/>
            <a:ext cx="868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Rating</a:t>
            </a:r>
            <a:endParaRPr lang="en-US" sz="900" dirty="0"/>
          </a:p>
        </p:txBody>
      </p:sp>
      <p:sp>
        <p:nvSpPr>
          <p:cNvPr id="32" name="Shape 29"/>
          <p:cNvSpPr/>
          <p:nvPr/>
        </p:nvSpPr>
        <p:spPr>
          <a:xfrm>
            <a:off x="3191256" y="3291840"/>
            <a:ext cx="86868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3191256" y="3319272"/>
            <a:ext cx="868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500" dirty="0"/>
          </a:p>
        </p:txBody>
      </p:sp>
      <p:sp>
        <p:nvSpPr>
          <p:cNvPr id="34" name="Text 31"/>
          <p:cNvSpPr/>
          <p:nvPr/>
        </p:nvSpPr>
        <p:spPr>
          <a:xfrm>
            <a:off x="3191256" y="3657600"/>
            <a:ext cx="868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Today</a:t>
            </a:r>
            <a:endParaRPr lang="en-US" sz="900" dirty="0"/>
          </a:p>
        </p:txBody>
      </p:sp>
      <p:pic>
        <p:nvPicPr>
          <p:cNvPr id="38" name="Picture 37">
            <a:extLst>
              <a:ext uri="{FF2B5EF4-FFF2-40B4-BE49-F238E27FC236}">
                <a16:creationId xmlns:a16="http://schemas.microsoft.com/office/drawing/2014/main" id="{1EADDBE2-C2C9-2D38-2DF2-9D715F9097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7707" y="1027773"/>
            <a:ext cx="3872229" cy="2241208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1F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91440"/>
            <a:ext cx="7315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🏢  Client Dashboard — Overview</a:t>
            </a:r>
            <a:endParaRPr lang="en-US" sz="2200" dirty="0"/>
          </a:p>
        </p:txBody>
      </p:sp>
      <p:pic>
        <p:nvPicPr>
          <p:cNvPr id="4" name="Image 0" descr="/home/claude/quicklabour-ppt/imgs/client_dash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841248"/>
            <a:ext cx="8686800" cy="3977640"/>
          </a:xfrm>
          <a:prstGeom prst="rect">
            <a:avLst/>
          </a:prstGeom>
          <a:effectLst>
            <a:outerShdw blurRad="127000" dist="38100" dir="8100000" algn="bl" rotWithShape="0">
              <a:srgbClr val="000000">
                <a:alpha val="12000"/>
              </a:srgbClr>
            </a:outerShdw>
          </a:effectLst>
        </p:spPr>
      </p:pic>
      <p:sp>
        <p:nvSpPr>
          <p:cNvPr id="5" name="Shape 2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365760" y="4690872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shows: </a:t>
            </a:r>
            <a:r>
              <a:rPr lang="en-US" sz="1100" dirty="0">
                <a:solidFill>
                  <a:srgbClr val="AECD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Jobs Posted • 0 Active Hires • ₹20,580 Total Spendings • Active Service Requests with hired worker matched • "Post a New Job" CTA button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8A72"/>
          </a:solidFill>
          <a:ln w="12700">
            <a:solidFill>
              <a:srgbClr val="0D8A7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🏢  Client Dashboard — Feature Breakdown</a:t>
            </a:r>
            <a:endParaRPr lang="en-US" sz="2400" dirty="0"/>
          </a:p>
        </p:txBody>
      </p:sp>
      <p:pic>
        <p:nvPicPr>
          <p:cNvPr id="4" name="Image 0" descr="/home/claude/quicklabour-ppt/imgs/client_dash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1005840"/>
            <a:ext cx="4297680" cy="2377440"/>
          </a:xfrm>
          <a:prstGeom prst="rect">
            <a:avLst/>
          </a:prstGeom>
          <a:effectLst>
            <a:outerShdw blurRad="127000" dist="38100" dir="8100000" algn="bl" rotWithShape="0">
              <a:srgbClr val="000000">
                <a:alpha val="12000"/>
              </a:srgbClr>
            </a:outerShdw>
          </a:effectLst>
        </p:spPr>
      </p:pic>
      <p:sp>
        <p:nvSpPr>
          <p:cNvPr id="5" name="Shape 2"/>
          <p:cNvSpPr/>
          <p:nvPr/>
        </p:nvSpPr>
        <p:spPr>
          <a:xfrm>
            <a:off x="4480560" y="1005840"/>
            <a:ext cx="224028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4590288" y="1060704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 Post a New Job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4590288" y="1353312"/>
            <a:ext cx="20116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Prominent orange CTA button allows clients to post a new job request instantly from the dashboard.</a:t>
            </a:r>
            <a:endParaRPr lang="en-US" sz="950" dirty="0"/>
          </a:p>
        </p:txBody>
      </p:sp>
      <p:sp>
        <p:nvSpPr>
          <p:cNvPr id="8" name="Shape 5"/>
          <p:cNvSpPr/>
          <p:nvPr/>
        </p:nvSpPr>
        <p:spPr>
          <a:xfrm>
            <a:off x="6720840" y="1005840"/>
            <a:ext cx="224028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6830568" y="1060704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Stats Cards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6830568" y="1353312"/>
            <a:ext cx="20116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view of Jobs Posted, Active Hires, and Total Spendings (₹) all visible at the top.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4480560" y="2029968"/>
            <a:ext cx="224028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4590288" y="2084832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📝  Active Service Requests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4590288" y="2377440"/>
            <a:ext cx="20116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Lists all posted jobs with status badges like "Work Completed" and matched worker details.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6720840" y="2029968"/>
            <a:ext cx="224028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6830568" y="2084832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🔗  Worker Matched Indicator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6830568" y="2377440"/>
            <a:ext cx="20116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Shows which worker was hired for each job, their daily rate (₹1,910/day), and a Message button.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4480560" y="3054096"/>
            <a:ext cx="224028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4590288" y="310896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Verified Client Badge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4590288" y="3401568"/>
            <a:ext cx="20116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 settings panel on right shows profile photo and a Verified Client green badge.</a:t>
            </a:r>
            <a:endParaRPr lang="en-US" sz="950" dirty="0"/>
          </a:p>
        </p:txBody>
      </p:sp>
      <p:sp>
        <p:nvSpPr>
          <p:cNvPr id="20" name="Shape 17"/>
          <p:cNvSpPr/>
          <p:nvPr/>
        </p:nvSpPr>
        <p:spPr>
          <a:xfrm>
            <a:off x="6720840" y="3054096"/>
            <a:ext cx="224028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Text 18"/>
          <p:cNvSpPr/>
          <p:nvPr/>
        </p:nvSpPr>
        <p:spPr>
          <a:xfrm>
            <a:off x="6830568" y="310896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💬  In-App Messaging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6830568" y="3401568"/>
            <a:ext cx="20116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Clients can message matched workers directly through the platform — no phone number needed.</a:t>
            </a:r>
            <a:endParaRPr lang="en-US" sz="950" dirty="0"/>
          </a:p>
        </p:txBody>
      </p:sp>
      <p:sp>
        <p:nvSpPr>
          <p:cNvPr id="23" name="Shape 20"/>
          <p:cNvSpPr/>
          <p:nvPr/>
        </p:nvSpPr>
        <p:spPr>
          <a:xfrm>
            <a:off x="228600" y="3520440"/>
            <a:ext cx="118872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228600" y="3547872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8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5" name="Text 22"/>
          <p:cNvSpPr/>
          <p:nvPr/>
        </p:nvSpPr>
        <p:spPr>
          <a:xfrm>
            <a:off x="228600" y="3849624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Jobs Posted</a:t>
            </a:r>
            <a:endParaRPr lang="en-US" sz="900" dirty="0"/>
          </a:p>
        </p:txBody>
      </p:sp>
      <p:sp>
        <p:nvSpPr>
          <p:cNvPr id="26" name="Shape 23"/>
          <p:cNvSpPr/>
          <p:nvPr/>
        </p:nvSpPr>
        <p:spPr>
          <a:xfrm>
            <a:off x="1691640" y="3520440"/>
            <a:ext cx="118872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1691640" y="3547872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₹20,580</a:t>
            </a:r>
            <a:endParaRPr lang="en-US" sz="1400" dirty="0"/>
          </a:p>
        </p:txBody>
      </p:sp>
      <p:sp>
        <p:nvSpPr>
          <p:cNvPr id="28" name="Text 25"/>
          <p:cNvSpPr/>
          <p:nvPr/>
        </p:nvSpPr>
        <p:spPr>
          <a:xfrm>
            <a:off x="1691640" y="3849624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Spent</a:t>
            </a:r>
            <a:endParaRPr lang="en-US" sz="900" dirty="0"/>
          </a:p>
        </p:txBody>
      </p:sp>
      <p:sp>
        <p:nvSpPr>
          <p:cNvPr id="29" name="Shape 26"/>
          <p:cNvSpPr/>
          <p:nvPr/>
        </p:nvSpPr>
        <p:spPr>
          <a:xfrm>
            <a:off x="3154680" y="3520440"/>
            <a:ext cx="118872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3154680" y="3547872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</a:t>
            </a:r>
            <a:endParaRPr lang="en-US" sz="1400" dirty="0"/>
          </a:p>
        </p:txBody>
      </p:sp>
      <p:sp>
        <p:nvSpPr>
          <p:cNvPr id="31" name="Text 28"/>
          <p:cNvSpPr/>
          <p:nvPr/>
        </p:nvSpPr>
        <p:spPr>
          <a:xfrm>
            <a:off x="3154680" y="3849624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Status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F1F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91440"/>
            <a:ext cx="7315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🛡️  Admin Control Center — Dashboard</a:t>
            </a:r>
            <a:endParaRPr lang="en-US" sz="2200" dirty="0"/>
          </a:p>
        </p:txBody>
      </p:sp>
      <p:pic>
        <p:nvPicPr>
          <p:cNvPr id="4" name="Image 0" descr="/home/claude/quicklabour-ppt/imgs/admin_dash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841248"/>
            <a:ext cx="8686800" cy="3977640"/>
          </a:xfrm>
          <a:prstGeom prst="rect">
            <a:avLst/>
          </a:prstGeom>
          <a:effectLst>
            <a:outerShdw blurRad="127000" dist="38100" dir="8100000" algn="bl" rotWithShape="0">
              <a:srgbClr val="000000">
                <a:alpha val="12000"/>
              </a:srgbClr>
            </a:outerShdw>
          </a:effectLst>
        </p:spPr>
      </p:pic>
      <p:sp>
        <p:nvSpPr>
          <p:cNvPr id="5" name="Shape 2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365760" y="4690872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sees: </a:t>
            </a:r>
            <a:r>
              <a:rPr lang="en-US" sz="1100" dirty="0">
                <a:solidFill>
                  <a:srgbClr val="AECD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Clients: 2 • Active Workers: 5 • Repair Jobs: 6 • Support Tickets: 2 • Revenue: ₹21,360 • Matchmaking Rate: 83% • Reviews: 11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4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🛡️  Admin Panel — Tabs &amp; Capabilities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1005840"/>
            <a:ext cx="4160520" cy="12070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005840"/>
            <a:ext cx="4160520" cy="384048"/>
          </a:xfrm>
          <a:prstGeom prst="rect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060704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Stats Graph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11480" y="1481328"/>
            <a:ext cx="3840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&amp; performance metrics. Platform revenue (₹21,360), Matchmaking Rate 83%, Reviews loaded (11).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709160" y="1005840"/>
            <a:ext cx="4160520" cy="12070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09160" y="1005840"/>
            <a:ext cx="4160520" cy="384048"/>
          </a:xfrm>
          <a:prstGeom prst="rect">
            <a:avLst/>
          </a:prstGeom>
          <a:solidFill>
            <a:srgbClr val="0D8A72"/>
          </a:solidFill>
          <a:ln w="12700">
            <a:solidFill>
              <a:srgbClr val="0D8A7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46320" y="1060704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👥 Clients (2)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846320" y="1481328"/>
            <a:ext cx="3840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client directory — view email, phone, address, hired job status. More Details &amp; Delete actions.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74320" y="2331720"/>
            <a:ext cx="4160520" cy="12070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74320" y="2331720"/>
            <a:ext cx="4160520" cy="384048"/>
          </a:xfrm>
          <a:prstGeom prst="rect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11480" y="2386584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👷 Workers (5)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11480" y="2807208"/>
            <a:ext cx="3840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workers with trade specialty, ratings, completions, availability &amp; verification docs.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709160" y="2331720"/>
            <a:ext cx="4160520" cy="12070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709160" y="2331720"/>
            <a:ext cx="4160520" cy="384048"/>
          </a:xfrm>
          <a:prstGeom prst="rect">
            <a:avLst/>
          </a:prstGeom>
          <a:solidFill>
            <a:srgbClr val="0D8A72"/>
          </a:solidFill>
          <a:ln w="12700">
            <a:solidFill>
              <a:srgbClr val="0D8A7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46320" y="2386584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💼 Job Listings (6)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846320" y="2807208"/>
            <a:ext cx="3840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posted jobs — admin can view, moderate and manage job postings across the platform.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274320" y="3657600"/>
            <a:ext cx="4160520" cy="12070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274320" y="3657600"/>
            <a:ext cx="4160520" cy="384048"/>
          </a:xfrm>
          <a:prstGeom prst="rect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11480" y="3712464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⭐ Reviews (11)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11480" y="4133088"/>
            <a:ext cx="3840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 reviews panel — admin moderates ratings submitted by clients for workers.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709160" y="3657600"/>
            <a:ext cx="4160520" cy="12070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709160" y="3657600"/>
            <a:ext cx="4160520" cy="384048"/>
          </a:xfrm>
          <a:prstGeom prst="rect">
            <a:avLst/>
          </a:prstGeom>
          <a:solidFill>
            <a:srgbClr val="0D8A72"/>
          </a:solidFill>
          <a:ln w="12700">
            <a:solidFill>
              <a:srgbClr val="0D8A7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46320" y="3712464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💬 Inquiries (2)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4846320" y="4133088"/>
            <a:ext cx="3840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tickets &amp; contact inquiries from users — admin responds or resolves them.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F1F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91440"/>
            <a:ext cx="7315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🛡️  Admin — Worker Management</a:t>
            </a:r>
            <a:endParaRPr lang="en-US" sz="2200" dirty="0"/>
          </a:p>
        </p:txBody>
      </p:sp>
      <p:sp>
        <p:nvSpPr>
          <p:cNvPr id="5" name="Shape 2"/>
          <p:cNvSpPr/>
          <p:nvPr/>
        </p:nvSpPr>
        <p:spPr>
          <a:xfrm>
            <a:off x="0" y="4553712"/>
            <a:ext cx="9144000" cy="589788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365760" y="4590288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Workers listed: </a:t>
            </a:r>
            <a:r>
              <a:rPr lang="en-US" sz="1050" dirty="0">
                <a:solidFill>
                  <a:srgbClr val="AECD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Vijay Patel (Painter 4.5★) • Suresh Kumar (Electrician 4.8★) • Ramesh Kumar (Plumber 4.9★) • Rahul Sharma (Carpenter 5★) • manmindre singh (Electrician 5★) — all showing Online status</a:t>
            </a:r>
            <a:endParaRPr lang="en-US" sz="1050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6EB193DD-56AC-F8D2-2472-B3CB548CB0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148" y="678778"/>
            <a:ext cx="8949704" cy="3785944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4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8A72"/>
          </a:solidFill>
          <a:ln w="12700">
            <a:solidFill>
              <a:srgbClr val="0D8A7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🛡️  Admin — Client Management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0" y="4636008"/>
            <a:ext cx="9144000" cy="507492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365760" y="466344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can: </a:t>
            </a:r>
            <a:r>
              <a:rPr lang="en-US" sz="1100" dirty="0">
                <a:solidFill>
                  <a:srgbClr val="AECD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client Name, ID, Email, Phone, Address, Status. Filter by specialty. More Details &amp; Delete for each record. Search bar for quick lookup.</a:t>
            </a:r>
            <a:endParaRPr lang="en-US" sz="11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FED5BDA-4F8A-2A95-0C76-96EB85770BA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1164" y="940207"/>
            <a:ext cx="8175636" cy="3724858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F1F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91440"/>
            <a:ext cx="7315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🗄️  Database — MongoDB Atlas</a:t>
            </a:r>
            <a:endParaRPr lang="en-US" sz="2200" dirty="0"/>
          </a:p>
        </p:txBody>
      </p:sp>
      <p:pic>
        <p:nvPicPr>
          <p:cNvPr id="4" name="Image 0" descr="/home/claude/quicklabour-ppt/imgs/mongodb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841248"/>
            <a:ext cx="8686800" cy="3429000"/>
          </a:xfrm>
          <a:prstGeom prst="rect">
            <a:avLst/>
          </a:prstGeom>
          <a:effectLst>
            <a:outerShdw blurRad="127000" dist="38100" dir="8100000" algn="bl" rotWithShape="0">
              <a:srgbClr val="000000">
                <a:alpha val="12000"/>
              </a:srgbClr>
            </a:outerShdw>
          </a:effectLst>
        </p:spPr>
      </p:pic>
      <p:sp>
        <p:nvSpPr>
          <p:cNvPr id="5" name="Shape 2"/>
          <p:cNvSpPr/>
          <p:nvPr/>
        </p:nvSpPr>
        <p:spPr>
          <a:xfrm>
            <a:off x="0" y="4407408"/>
            <a:ext cx="9144000" cy="736092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365760" y="4443984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Collections: </a:t>
            </a:r>
            <a:r>
              <a:rPr lang="en-US" sz="1050" dirty="0">
                <a:solidFill>
                  <a:srgbClr val="AECD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• Client • Contacts • Jobs (6 docs) • Labour/Workers (5 docs) • Messages (19 docs) • Review (11 docs)  |  </a:t>
            </a:r>
            <a:r>
              <a:rPr lang="en-US" sz="105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Cluster: </a:t>
            </a:r>
            <a:r>
              <a:rPr lang="en-US" sz="1050" dirty="0">
                <a:solidFill>
                  <a:srgbClr val="AECD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Cluster0 on MongoDB Atlas Cloud (free tier)</a:t>
            </a:r>
            <a:endParaRPr lang="en-US" sz="10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4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🗄️  Database Schema — Collections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987552"/>
            <a:ext cx="416052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987552"/>
            <a:ext cx="4160520" cy="320040"/>
          </a:xfrm>
          <a:prstGeom prst="rect">
            <a:avLst/>
          </a:prstGeom>
          <a:solidFill>
            <a:srgbClr val="E53E3E">
              <a:alpha val="85000"/>
            </a:srgbClr>
          </a:solidFill>
          <a:ln w="12700">
            <a:solidFill>
              <a:srgbClr val="E53E3E">
                <a:alpha val="85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84048" y="1024128"/>
            <a:ext cx="394106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  (2 docs)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384048" y="1371600"/>
            <a:ext cx="394106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_id, name, email, password, role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709160" y="987552"/>
            <a:ext cx="416052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09160" y="987552"/>
            <a:ext cx="4160520" cy="320040"/>
          </a:xfrm>
          <a:prstGeom prst="rect">
            <a:avLst/>
          </a:prstGeom>
          <a:solidFill>
            <a:srgbClr val="3182CE">
              <a:alpha val="85000"/>
            </a:srgbClr>
          </a:solidFill>
          <a:ln w="12700">
            <a:solidFill>
              <a:srgbClr val="3182CE">
                <a:alpha val="85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18888" y="1024128"/>
            <a:ext cx="394106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  (2 docs)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4818888" y="1371600"/>
            <a:ext cx="394106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_id, name, email, phone, address, profilePhoto, idProof, password, jobsPosted, totalSpent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74320" y="1975104"/>
            <a:ext cx="416052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74320" y="1975104"/>
            <a:ext cx="4160520" cy="320040"/>
          </a:xfrm>
          <a:prstGeom prst="rect">
            <a:avLst/>
          </a:prstGeom>
          <a:solidFill>
            <a:srgbClr val="38A169">
              <a:alpha val="85000"/>
            </a:srgbClr>
          </a:solidFill>
          <a:ln w="12700">
            <a:solidFill>
              <a:srgbClr val="38A169">
                <a:alpha val="85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84048" y="2011680"/>
            <a:ext cx="394106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Labour (Worker)   (5 docs)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384048" y="2359152"/>
            <a:ext cx="394106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_id, name, phone, trade, industry, baseRate, rating, completions, isOnline, idProofUrl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709160" y="1975104"/>
            <a:ext cx="416052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709160" y="1975104"/>
            <a:ext cx="4160520" cy="320040"/>
          </a:xfrm>
          <a:prstGeom prst="rect">
            <a:avLst/>
          </a:prstGeom>
          <a:solidFill>
            <a:srgbClr val="F5A623">
              <a:alpha val="85000"/>
            </a:srgbClr>
          </a:solidFill>
          <a:ln w="12700">
            <a:solidFill>
              <a:srgbClr val="F5A623">
                <a:alpha val="85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18888" y="2011680"/>
            <a:ext cx="394106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Jobs   (6 docs)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4818888" y="2359152"/>
            <a:ext cx="394106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_id, clientId, workerId, jobTitle, location, status, postedDate, dailyRate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74320" y="2962656"/>
            <a:ext cx="416052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274320" y="2962656"/>
            <a:ext cx="4160520" cy="320040"/>
          </a:xfrm>
          <a:prstGeom prst="rect">
            <a:avLst/>
          </a:prstGeom>
          <a:solidFill>
            <a:srgbClr val="805AD5">
              <a:alpha val="85000"/>
            </a:srgbClr>
          </a:solidFill>
          <a:ln w="12700">
            <a:solidFill>
              <a:srgbClr val="805AD5">
                <a:alpha val="85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84048" y="2999232"/>
            <a:ext cx="394106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Messages   (19 docs)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384048" y="3346704"/>
            <a:ext cx="394106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_id, senderId, receiverId, content, timestamp, conversationId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709160" y="2962656"/>
            <a:ext cx="416052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709160" y="2962656"/>
            <a:ext cx="4160520" cy="320040"/>
          </a:xfrm>
          <a:prstGeom prst="rect">
            <a:avLst/>
          </a:prstGeom>
          <a:solidFill>
            <a:srgbClr val="D69E2E">
              <a:alpha val="85000"/>
            </a:srgbClr>
          </a:solidFill>
          <a:ln w="12700">
            <a:solidFill>
              <a:srgbClr val="D69E2E">
                <a:alpha val="8500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18888" y="2999232"/>
            <a:ext cx="394106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  (11 docs)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4818888" y="3346704"/>
            <a:ext cx="394106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_id, clientId, workerId, rating (1-5), comment, date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2514600" y="3950208"/>
            <a:ext cx="416052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2514600" y="3950208"/>
            <a:ext cx="4160520" cy="320040"/>
          </a:xfrm>
          <a:prstGeom prst="rect">
            <a:avLst/>
          </a:prstGeom>
          <a:solidFill>
            <a:srgbClr val="0BC5EA">
              <a:alpha val="85000"/>
            </a:srgbClr>
          </a:solidFill>
          <a:ln w="12700">
            <a:solidFill>
              <a:srgbClr val="0BC5EA">
                <a:alpha val="8500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624328" y="3986784"/>
            <a:ext cx="394106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Contacts   (2 docs)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2624328" y="4334256"/>
            <a:ext cx="394106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_id, name, email, message, submittedAt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F1F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🔧  Technology Stack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1005840"/>
            <a:ext cx="8595360" cy="685800"/>
          </a:xfrm>
          <a:prstGeom prst="rect">
            <a:avLst/>
          </a:prstGeom>
          <a:solidFill>
            <a:srgbClr val="0D8A72">
              <a:alpha val="75000"/>
            </a:srgbClr>
          </a:solidFill>
          <a:ln w="12700">
            <a:solidFill>
              <a:srgbClr val="0D8A7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078992"/>
            <a:ext cx="2103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⚛️  Frontend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2651760" y="1097280"/>
            <a:ext cx="6035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React.js (Vite)   •   Tailwind CSS / Bootstrap   •   React Router DOM   •   Axios for API calls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274320" y="1810512"/>
            <a:ext cx="8595360" cy="685800"/>
          </a:xfrm>
          <a:prstGeom prst="rect">
            <a:avLst/>
          </a:prstGeom>
          <a:solidFill>
            <a:srgbClr val="1565C0">
              <a:alpha val="75000"/>
            </a:srgbClr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883664"/>
            <a:ext cx="2103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🖥️  Backend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2651760" y="1901952"/>
            <a:ext cx="6035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  •   Express.js   •   REST API Architecture   •   JWT Authentication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274320" y="2615184"/>
            <a:ext cx="8595360" cy="685800"/>
          </a:xfrm>
          <a:prstGeom prst="rect">
            <a:avLst/>
          </a:prstGeom>
          <a:solidFill>
            <a:srgbClr val="2E7D32">
              <a:alpha val="75000"/>
            </a:srgbClr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2688336"/>
            <a:ext cx="2103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🗄️  Database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2651760" y="2706624"/>
            <a:ext cx="6035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 Atlas (Cloud)   •   Mongoose ODM   •   7 Collections   •   Cloud-hosted Cluster0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274320" y="3419856"/>
            <a:ext cx="8595360" cy="685800"/>
          </a:xfrm>
          <a:prstGeom prst="rect">
            <a:avLst/>
          </a:prstGeom>
          <a:solidFill>
            <a:srgbClr val="6A1B9A">
              <a:alpha val="75000"/>
            </a:srgbClr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3493008"/>
            <a:ext cx="2103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🔐  Security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2651760" y="3511296"/>
            <a:ext cx="6035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bcrypt password hashing   •   JWT tokens   •   Session management   •   ID verification upload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274320" y="4224528"/>
            <a:ext cx="8595360" cy="685800"/>
          </a:xfrm>
          <a:prstGeom prst="rect">
            <a:avLst/>
          </a:prstGeom>
          <a:solidFill>
            <a:srgbClr val="BF360C">
              <a:alpha val="75000"/>
            </a:srgbClr>
          </a:solidFill>
          <a:ln w="12700">
            <a:solidFill>
              <a:srgbClr val="BF360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4297680"/>
            <a:ext cx="2103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🚀  Deployment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2651760" y="4315968"/>
            <a:ext cx="6035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Render.com (Full-Stack)   •   Free-tier cloud hosting   •   CI/CD via Git push   •   Environment variables</a:t>
            </a:r>
            <a:endParaRPr lang="en-US" sz="12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4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8A72"/>
          </a:solidFill>
          <a:ln w="12700">
            <a:solidFill>
              <a:srgbClr val="0D8A7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🏗️  System Architecture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200400" y="1005840"/>
            <a:ext cx="2743200" cy="640080"/>
          </a:xfrm>
          <a:prstGeom prst="rect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0" y="100584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  Browser / Client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07992" y="1645920"/>
            <a:ext cx="128016" cy="411480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286000" y="2057400"/>
            <a:ext cx="4572000" cy="640080"/>
          </a:xfrm>
          <a:prstGeom prst="rect">
            <a:avLst/>
          </a:prstGeom>
          <a:solidFill>
            <a:srgbClr val="0D8A72"/>
          </a:solidFill>
          <a:ln w="12700">
            <a:solidFill>
              <a:srgbClr val="0D8A7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286000" y="2057400"/>
            <a:ext cx="4572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⚛️  React Frontend (Vite)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07992" y="2697480"/>
            <a:ext cx="128016" cy="411480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286000" y="3108960"/>
            <a:ext cx="4572000" cy="64008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286000" y="3108960"/>
            <a:ext cx="4572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🖥️  Node.js + Express REST API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07992" y="3749040"/>
            <a:ext cx="128016" cy="411480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286000" y="4160520"/>
            <a:ext cx="4572000" cy="64008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286000" y="4160520"/>
            <a:ext cx="4572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🗄️  MongoDB Atlas Cloud Database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137160" y="2468880"/>
            <a:ext cx="1691640" cy="1691640"/>
          </a:xfrm>
          <a:prstGeom prst="rect">
            <a:avLst/>
          </a:prstGeom>
          <a:solidFill>
            <a:srgbClr val="BF360C">
              <a:alpha val="80000"/>
            </a:srgbClr>
          </a:solidFill>
          <a:ln w="12700">
            <a:solidFill>
              <a:srgbClr val="BF360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37160" y="2468880"/>
            <a:ext cx="1691640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🚀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Render.com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Hosting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7315200" y="2468880"/>
            <a:ext cx="1691640" cy="1691640"/>
          </a:xfrm>
          <a:prstGeom prst="rect">
            <a:avLst/>
          </a:prstGeom>
          <a:solidFill>
            <a:srgbClr val="6A1B9A">
              <a:alpha val="80000"/>
            </a:srgbClr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315200" y="2468880"/>
            <a:ext cx="1691640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🔐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Auth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bcrypt</a:t>
            </a:r>
            <a:endParaRPr lang="en-US" sz="11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F1F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🎓  Challenges &amp; Learnings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987552"/>
            <a:ext cx="4160520" cy="3931920"/>
          </a:xfrm>
          <a:prstGeom prst="rect">
            <a:avLst/>
          </a:prstGeom>
          <a:solidFill>
            <a:srgbClr val="152A47"/>
          </a:solidFill>
          <a:ln w="12700">
            <a:solidFill>
              <a:srgbClr val="1E3F6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078992"/>
            <a:ext cx="3794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Challenges Faced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57200" y="1572768"/>
            <a:ext cx="3840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r>
              <a:rPr lang="en-US" sz="1100" dirty="0">
                <a:solidFill>
                  <a:srgbClr val="AECD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a dual-portal auth system (Client + Worker) with role-based routing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103120"/>
            <a:ext cx="3840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r>
              <a:rPr lang="en-US" sz="1100" dirty="0">
                <a:solidFill>
                  <a:srgbClr val="AECD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Designing the worker trade selection UI (2-step industry → trade flow)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2633472"/>
            <a:ext cx="3840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r>
              <a:rPr lang="en-US" sz="1100" dirty="0">
                <a:solidFill>
                  <a:srgbClr val="AECD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availability toggle synced across the platform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3163824"/>
            <a:ext cx="3840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r>
              <a:rPr lang="en-US" sz="1100" dirty="0">
                <a:solidFill>
                  <a:srgbClr val="AECD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 schema design for Messages (19 docs) and Reviews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3694176"/>
            <a:ext cx="3840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r>
              <a:rPr lang="en-US" sz="1100" dirty="0">
                <a:solidFill>
                  <a:srgbClr val="AECD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Deploying a full-stack MERN app on Render free tier (cold start delays)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7200" y="4224528"/>
            <a:ext cx="3840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r>
              <a:rPr lang="en-US" sz="1100" dirty="0">
                <a:solidFill>
                  <a:srgbClr val="AECD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Matching workers to client jobs based on trade and location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709160" y="987552"/>
            <a:ext cx="4160520" cy="3931920"/>
          </a:xfrm>
          <a:prstGeom prst="rect">
            <a:avLst/>
          </a:prstGeom>
          <a:solidFill>
            <a:srgbClr val="0D8A72"/>
          </a:solidFill>
          <a:ln w="12700">
            <a:solidFill>
              <a:srgbClr val="0D8A7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92040" y="1078992"/>
            <a:ext cx="3794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Key Learnings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892040" y="1572768"/>
            <a:ext cx="3840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MERN stack development from scratch to deployment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892040" y="2103120"/>
            <a:ext cx="3840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authentication &amp; role-based access control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892040" y="2633472"/>
            <a:ext cx="3840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 Atlas cloud database setup and schema design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892040" y="3163824"/>
            <a:ext cx="3840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component architecture and state management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892040" y="3694176"/>
            <a:ext cx="3840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 design — endpoints, middleware, error handling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892040" y="4224528"/>
            <a:ext cx="3840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experience design for diverse (non-tech) users</a:t>
            </a:r>
            <a:endParaRPr lang="en-US" sz="11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4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🚀  Future Scope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987552"/>
            <a:ext cx="2788920" cy="3950208"/>
          </a:xfrm>
          <a:prstGeom prst="rect">
            <a:avLst/>
          </a:prstGeom>
          <a:solidFill>
            <a:srgbClr val="0D8A72">
              <a:alpha val="90000"/>
            </a:srgbClr>
          </a:solidFill>
          <a:ln w="12700">
            <a:solidFill>
              <a:srgbClr val="0D8A7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024128"/>
            <a:ext cx="2788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1450" dirty="0"/>
          </a:p>
          <a:p>
            <a:pPr marL="0" indent="0" algn="ctr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 Term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411480" y="1783080"/>
            <a:ext cx="2514600" cy="640080"/>
          </a:xfrm>
          <a:prstGeom prst="rect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75488" y="1810512"/>
            <a:ext cx="237744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📱 React Native mobile app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11480" y="2532888"/>
            <a:ext cx="2514600" cy="640080"/>
          </a:xfrm>
          <a:prstGeom prst="rect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75488" y="2560320"/>
            <a:ext cx="237744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📲 WhatsApp / SMS job alerts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11480" y="3282696"/>
            <a:ext cx="2514600" cy="640080"/>
          </a:xfrm>
          <a:prstGeom prst="rect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5488" y="3310128"/>
            <a:ext cx="237744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 Hindi &amp; Punjabi UI support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11480" y="4032504"/>
            <a:ext cx="2514600" cy="640080"/>
          </a:xfrm>
          <a:prstGeom prst="rect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5488" y="4059936"/>
            <a:ext cx="237744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⭐ Review reply system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218688" y="987552"/>
            <a:ext cx="2788920" cy="3950208"/>
          </a:xfrm>
          <a:prstGeom prst="rect">
            <a:avLst/>
          </a:prstGeom>
          <a:solidFill>
            <a:srgbClr val="1565C0">
              <a:alpha val="90000"/>
            </a:srgbClr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18688" y="1024128"/>
            <a:ext cx="2788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1450" dirty="0"/>
          </a:p>
          <a:p>
            <a:pPr marL="0" indent="0" algn="ctr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3355848" y="1783080"/>
            <a:ext cx="2514600" cy="640080"/>
          </a:xfrm>
          <a:prstGeom prst="rect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419856" y="1810512"/>
            <a:ext cx="237744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 AI-powered worker matching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355848" y="2532888"/>
            <a:ext cx="2514600" cy="640080"/>
          </a:xfrm>
          <a:prstGeom prst="rect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419856" y="2560320"/>
            <a:ext cx="237744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💳 In-app UPI payment gateway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355848" y="3282696"/>
            <a:ext cx="2514600" cy="640080"/>
          </a:xfrm>
          <a:prstGeom prst="rect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419856" y="3310128"/>
            <a:ext cx="237744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🪪 DigiLocker ID verification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3355848" y="4032504"/>
            <a:ext cx="2514600" cy="640080"/>
          </a:xfrm>
          <a:prstGeom prst="rect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419856" y="4059936"/>
            <a:ext cx="237744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📍 GPS-based live tracking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163056" y="987552"/>
            <a:ext cx="2788920" cy="3950208"/>
          </a:xfrm>
          <a:prstGeom prst="rect">
            <a:avLst/>
          </a:prstGeom>
          <a:solidFill>
            <a:srgbClr val="6A1B9A">
              <a:alpha val="90000"/>
            </a:srgbClr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163056" y="1024128"/>
            <a:ext cx="2788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1450" dirty="0"/>
          </a:p>
          <a:p>
            <a:pPr marL="0" indent="0" algn="ctr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</a:t>
            </a:r>
            <a:endParaRPr lang="en-US" sz="1450" dirty="0"/>
          </a:p>
        </p:txBody>
      </p:sp>
      <p:sp>
        <p:nvSpPr>
          <p:cNvPr id="26" name="Shape 24"/>
          <p:cNvSpPr/>
          <p:nvPr/>
        </p:nvSpPr>
        <p:spPr>
          <a:xfrm>
            <a:off x="6300216" y="1783080"/>
            <a:ext cx="2514600" cy="640080"/>
          </a:xfrm>
          <a:prstGeom prst="rect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364224" y="1810512"/>
            <a:ext cx="237744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Analytics for employers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6300216" y="2532888"/>
            <a:ext cx="2514600" cy="640080"/>
          </a:xfrm>
          <a:prstGeom prst="rect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364224" y="2560320"/>
            <a:ext cx="237744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💼 Premium subscription tiers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6300216" y="3282696"/>
            <a:ext cx="2514600" cy="640080"/>
          </a:xfrm>
          <a:prstGeom prst="rect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364224" y="3310128"/>
            <a:ext cx="237744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🤝 NGO &amp; CSR partnerships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6300216" y="4032504"/>
            <a:ext cx="2514600" cy="640080"/>
          </a:xfrm>
          <a:prstGeom prst="rect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364224" y="4059936"/>
            <a:ext cx="237744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🏙️ Expansion to 50+ cities</a:t>
            </a:r>
            <a:endParaRPr lang="en-US" sz="12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F1F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978908"/>
            <a:ext cx="9144000" cy="16459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979408" y="0"/>
            <a:ext cx="164592" cy="514350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502920"/>
            <a:ext cx="8229600" cy="1417320"/>
          </a:xfrm>
          <a:prstGeom prst="rect">
            <a:avLst/>
          </a:prstGeom>
          <a:noFill/>
          <a:ln/>
          <a:effectLst>
            <a:outerShdw blurRad="228600" dist="63500" dir="8100000" algn="bl" rotWithShape="0">
              <a:srgbClr val="000000">
                <a:alpha val="50000"/>
              </a:srgbClr>
            </a:outerShdw>
          </a:effectLst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Thank You!</a:t>
            </a:r>
            <a:endParaRPr lang="en-US" sz="6200" dirty="0"/>
          </a:p>
        </p:txBody>
      </p:sp>
      <p:sp>
        <p:nvSpPr>
          <p:cNvPr id="7" name="Text 5"/>
          <p:cNvSpPr/>
          <p:nvPr/>
        </p:nvSpPr>
        <p:spPr>
          <a:xfrm>
            <a:off x="457200" y="19202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00" b="1" i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QuickLabour — Empowering Workers, Enabling Employers</a:t>
            </a:r>
            <a:endParaRPr lang="en-US" sz="1900" dirty="0"/>
          </a:p>
        </p:txBody>
      </p:sp>
      <p:sp>
        <p:nvSpPr>
          <p:cNvPr id="8" name="Shape 6"/>
          <p:cNvSpPr/>
          <p:nvPr/>
        </p:nvSpPr>
        <p:spPr>
          <a:xfrm>
            <a:off x="914400" y="2633472"/>
            <a:ext cx="3200400" cy="548640"/>
          </a:xfrm>
          <a:prstGeom prst="rect">
            <a:avLst/>
          </a:prstGeom>
          <a:solidFill>
            <a:srgbClr val="152A47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51560" y="2706624"/>
            <a:ext cx="29260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 Live URL  </a:t>
            </a: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quick-labour.onrender.com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029200" y="2633472"/>
            <a:ext cx="3200400" cy="548640"/>
          </a:xfrm>
          <a:prstGeom prst="rect">
            <a:avLst/>
          </a:prstGeom>
          <a:solidFill>
            <a:srgbClr val="152A47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166360" y="2706624"/>
            <a:ext cx="29260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🗄️ Database  </a:t>
            </a: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 Atlas — Cluster0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914400" y="3291840"/>
            <a:ext cx="3200400" cy="548640"/>
          </a:xfrm>
          <a:prstGeom prst="rect">
            <a:avLst/>
          </a:prstGeom>
          <a:solidFill>
            <a:srgbClr val="152A47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51560" y="3364992"/>
            <a:ext cx="29260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🚀 Deployed on  </a:t>
            </a: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Render.com (Full-Stack)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029200" y="3291840"/>
            <a:ext cx="3200400" cy="548640"/>
          </a:xfrm>
          <a:prstGeom prst="rect">
            <a:avLst/>
          </a:prstGeom>
          <a:solidFill>
            <a:srgbClr val="152A47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166360" y="3364992"/>
            <a:ext cx="29260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📦 Stack  </a:t>
            </a: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MERN (MongoDB, Express, React, Node)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57200" y="4462272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i="1" dirty="0">
                <a:solidFill>
                  <a:srgbClr val="AECD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Feedback Welcome  🙏</a:t>
            </a:r>
            <a:endParaRPr lang="en-US" sz="1350" dirty="0"/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17</TotalTime>
  <Words>2104</Words>
  <Application>Microsoft Office PowerPoint</Application>
  <PresentationFormat>On-screen Show (16:9)</PresentationFormat>
  <Paragraphs>271</Paragraphs>
  <Slides>26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0" baseType="lpstr">
      <vt:lpstr>Calibri</vt:lpstr>
      <vt:lpstr>Century Gothic</vt:lpstr>
      <vt:lpstr>Wingdings 3</vt:lpstr>
      <vt:lpstr>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QuickLabour - College Project Presentation</dc:title>
  <dc:subject>PptxGenJS Presentation</dc:subject>
  <dc:creator>PptxGenJS</dc:creator>
  <cp:lastModifiedBy>Rupinder Kaur</cp:lastModifiedBy>
  <cp:revision>3</cp:revision>
  <dcterms:created xsi:type="dcterms:W3CDTF">2026-05-25T03:27:16Z</dcterms:created>
  <dcterms:modified xsi:type="dcterms:W3CDTF">2026-05-25T11:40:07Z</dcterms:modified>
</cp:coreProperties>
</file>